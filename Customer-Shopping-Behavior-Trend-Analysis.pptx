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Noto Serif SC Bold"/>
      <p:regular r:id="rId17"/>
    </p:embeddedFont>
    <p:embeddedFont>
      <p:font typeface="Geist"/>
      <p:regular r:id="rId18"/>
    </p:embeddedFont>
    <p:embeddedFont>
      <p:font typeface="Geist Bold"/>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E5F9F2">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E5F9F2">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E5F9F2">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E5F9F2">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E5F9F2">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E5F9F2">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E5F9F2">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E5F9F2">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E5F9F2">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E5F9F2">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9.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4.png"/><Relationship Id="rId5" Type="http://schemas.openxmlformats.org/officeDocument/2006/relationships/image" Target="../media/image-9-5.svg"/><Relationship Id="rId6" Type="http://schemas.openxmlformats.org/officeDocument/2006/relationships/image" Target="../media/image-9-6.png"/><Relationship Id="rId7" Type="http://schemas.openxmlformats.org/officeDocument/2006/relationships/image" Target="../media/image-9-7.svg"/><Relationship Id="rId8" Type="http://schemas.openxmlformats.org/officeDocument/2006/relationships/image" Target="../media/image-9-8.png"/><Relationship Id="rId9" Type="http://schemas.openxmlformats.org/officeDocument/2006/relationships/image" Target="../media/image-9-9.svg"/><Relationship Id="rId10" Type="http://schemas.openxmlformats.org/officeDocument/2006/relationships/slideLayout" Target="../slideLayouts/slideLayout10.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image" Target="../media/image-10-9.png"/><Relationship Id="rId10" Type="http://schemas.openxmlformats.org/officeDocument/2006/relationships/image" Target="../media/image-10-10.svg"/><Relationship Id="rId11" Type="http://schemas.openxmlformats.org/officeDocument/2006/relationships/slideLayout" Target="../slideLayouts/slideLayout11.xml"/><Relationship Id="rId1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543550" y="0"/>
            <a:ext cx="3600450" cy="5143500"/>
          </a:xfrm>
          <a:prstGeom prst="rect">
            <a:avLst/>
          </a:prstGeom>
        </p:spPr>
      </p:pic>
      <p:sp>
        <p:nvSpPr>
          <p:cNvPr id="3" name="Text 0"/>
          <p:cNvSpPr/>
          <p:nvPr/>
        </p:nvSpPr>
        <p:spPr>
          <a:xfrm>
            <a:off x="496119" y="1682204"/>
            <a:ext cx="4722763" cy="885974"/>
          </a:xfrm>
          <a:prstGeom prst="rect">
            <a:avLst/>
          </a:prstGeom>
          <a:noFill/>
          <a:ln/>
        </p:spPr>
        <p:txBody>
          <a:bodyPr wrap="square" lIns="0" tIns="0" rIns="0" bIns="0" rtlCol="0" anchor="t">
            <a:normAutofit/>
          </a:bodyPr>
          <a:lstStyle/>
          <a:p>
            <a:pPr algn="l" indent="0" marL="0">
              <a:lnSpc>
                <a:spcPct val="104000"/>
              </a:lnSpc>
              <a:buNone/>
            </a:pPr>
            <a:r>
              <a:rPr lang="en-US" sz="2750" b="1" dirty="0">
                <a:solidFill>
                  <a:srgbClr val="006747"/>
                </a:solidFill>
                <a:latin typeface="Noto Serif SC Bold" pitchFamily="34" charset="0"/>
                <a:ea typeface="Noto Serif SC Bold" pitchFamily="34" charset="-122"/>
                <a:cs typeface="Noto Serif SC Bold" pitchFamily="34" charset="-120"/>
              </a:rPr>
              <a:t>Customer Shopping Behavior Analysis</a:t>
            </a:r>
            <a:endParaRPr lang="en-US" sz="2750" dirty="0"/>
          </a:p>
        </p:txBody>
      </p:sp>
      <p:sp>
        <p:nvSpPr>
          <p:cNvPr id="4" name="Text 1"/>
          <p:cNvSpPr/>
          <p:nvPr/>
        </p:nvSpPr>
        <p:spPr>
          <a:xfrm>
            <a:off x="496119" y="2780779"/>
            <a:ext cx="4722763"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Uncovering insights from </a:t>
            </a:r>
            <a:pPr algn="l" indent="0" marL="0">
              <a:lnSpc>
                <a:spcPct val="133000"/>
              </a:lnSpc>
              <a:buNone/>
            </a:pPr>
            <a:r>
              <a:rPr lang="en-US" sz="1100" b="1" dirty="0">
                <a:solidFill>
                  <a:srgbClr val="4B4A4A"/>
                </a:solidFill>
                <a:latin typeface="Geist" pitchFamily="34" charset="0"/>
                <a:ea typeface="Geist" pitchFamily="34" charset="-122"/>
                <a:cs typeface="Geist" pitchFamily="34" charset="-120"/>
              </a:rPr>
              <a:t>3,900 transactions</a:t>
            </a:r>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 across product categories — spending patterns, customer segments, and subscription behavior to guide strategic decisions.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397669"/>
            <a:ext cx="4001319" cy="442987"/>
          </a:xfrm>
          <a:prstGeom prst="rect">
            <a:avLst/>
          </a:prstGeom>
          <a:noFill/>
          <a:ln/>
        </p:spPr>
        <p:txBody>
          <a:bodyPr wrap="none" lIns="0" tIns="0" rIns="0" bIns="0" rtlCol="0" anchor="t"/>
          <a:lstStyle/>
          <a:p>
            <a:pPr algn="l" indent="0" marL="0">
              <a:lnSpc>
                <a:spcPct val="104000"/>
              </a:lnSpc>
              <a:buNone/>
            </a:pPr>
            <a:r>
              <a:rPr lang="en-US" sz="2750" b="1" dirty="0">
                <a:solidFill>
                  <a:srgbClr val="006747"/>
                </a:solidFill>
                <a:latin typeface="Noto Serif SC Bold" pitchFamily="34" charset="0"/>
                <a:ea typeface="Noto Serif SC Bold" pitchFamily="34" charset="-122"/>
                <a:cs typeface="Noto Serif SC Bold" pitchFamily="34" charset="-120"/>
              </a:rPr>
              <a:t>Dataset at a Glance</a:t>
            </a:r>
            <a:endParaRPr lang="en-US" sz="2750" dirty="0"/>
          </a:p>
        </p:txBody>
      </p:sp>
      <p:sp>
        <p:nvSpPr>
          <p:cNvPr id="3" name="Text 1"/>
          <p:cNvSpPr/>
          <p:nvPr/>
        </p:nvSpPr>
        <p:spPr>
          <a:xfrm>
            <a:off x="496119" y="1195015"/>
            <a:ext cx="3987254" cy="467841"/>
          </a:xfrm>
          <a:prstGeom prst="rect">
            <a:avLst/>
          </a:prstGeom>
          <a:noFill/>
          <a:ln/>
        </p:spPr>
        <p:txBody>
          <a:bodyPr wrap="none" lIns="0" tIns="0" rIns="0" bIns="0" rtlCol="0" anchor="t"/>
          <a:lstStyle/>
          <a:p>
            <a:pPr algn="ctr" indent="0" marL="0">
              <a:lnSpc>
                <a:spcPct val="83000"/>
              </a:lnSpc>
              <a:buNone/>
            </a:pPr>
            <a:r>
              <a:rPr lang="en-US" sz="3650" b="1" dirty="0">
                <a:solidFill>
                  <a:srgbClr val="4B4A4A"/>
                </a:solidFill>
                <a:latin typeface="Noto Serif SC Bold" pitchFamily="34" charset="0"/>
                <a:ea typeface="Noto Serif SC Bold" pitchFamily="34" charset="-122"/>
                <a:cs typeface="Noto Serif SC Bold" pitchFamily="34" charset="-120"/>
              </a:rPr>
              <a:t>3,900</a:t>
            </a:r>
            <a:endParaRPr lang="en-US" sz="3650" dirty="0"/>
          </a:p>
        </p:txBody>
      </p:sp>
      <p:sp>
        <p:nvSpPr>
          <p:cNvPr id="4" name="Text 2"/>
          <p:cNvSpPr/>
          <p:nvPr/>
        </p:nvSpPr>
        <p:spPr>
          <a:xfrm>
            <a:off x="1603697" y="1839962"/>
            <a:ext cx="1772022" cy="221456"/>
          </a:xfrm>
          <a:prstGeom prst="rect">
            <a:avLst/>
          </a:prstGeom>
          <a:noFill/>
          <a:ln/>
        </p:spPr>
        <p:txBody>
          <a:bodyPr wrap="none" lIns="0" tIns="0" rIns="0" bIns="0" rtlCol="0" anchor="t"/>
          <a:lstStyle/>
          <a:p>
            <a:pPr algn="ctr" indent="0" marL="0">
              <a:lnSpc>
                <a:spcPct val="104000"/>
              </a:lnSpc>
              <a:buNone/>
            </a:pPr>
            <a:r>
              <a:rPr lang="en-US" sz="1350" b="1" dirty="0">
                <a:solidFill>
                  <a:srgbClr val="4B4A4A"/>
                </a:solidFill>
                <a:latin typeface="Noto Serif SC Bold" pitchFamily="34" charset="0"/>
                <a:ea typeface="Noto Serif SC Bold" pitchFamily="34" charset="-122"/>
                <a:cs typeface="Noto Serif SC Bold" pitchFamily="34" charset="-120"/>
              </a:rPr>
              <a:t>Purchases</a:t>
            </a:r>
            <a:endParaRPr lang="en-US" sz="1350" dirty="0"/>
          </a:p>
        </p:txBody>
      </p:sp>
      <p:sp>
        <p:nvSpPr>
          <p:cNvPr id="5" name="Text 3"/>
          <p:cNvSpPr/>
          <p:nvPr/>
        </p:nvSpPr>
        <p:spPr>
          <a:xfrm>
            <a:off x="496119" y="2146474"/>
            <a:ext cx="3987254" cy="226814"/>
          </a:xfrm>
          <a:prstGeom prst="rect">
            <a:avLst/>
          </a:prstGeom>
          <a:noFill/>
          <a:ln/>
        </p:spPr>
        <p:txBody>
          <a:bodyPr wrap="none" lIns="0" tIns="0" rIns="0" bIns="0" rtlCol="0" anchor="t"/>
          <a:lstStyle/>
          <a:p>
            <a:pPr algn="ctr" indent="0" marL="0">
              <a:lnSpc>
                <a:spcPct val="133000"/>
              </a:lnSpc>
              <a:buNone/>
            </a:pPr>
            <a:r>
              <a:rPr lang="en-US" sz="1100" dirty="0">
                <a:solidFill>
                  <a:srgbClr val="4B4A4A"/>
                </a:solidFill>
                <a:latin typeface="Geist" pitchFamily="34" charset="0"/>
                <a:ea typeface="Geist" pitchFamily="34" charset="-122"/>
                <a:cs typeface="Geist" pitchFamily="34" charset="-120"/>
              </a:rPr>
              <a:t>Transactional records analyzed</a:t>
            </a:r>
            <a:endParaRPr lang="en-US" sz="1100" dirty="0"/>
          </a:p>
        </p:txBody>
      </p:sp>
      <p:sp>
        <p:nvSpPr>
          <p:cNvPr id="6" name="Text 4"/>
          <p:cNvSpPr/>
          <p:nvPr/>
        </p:nvSpPr>
        <p:spPr>
          <a:xfrm>
            <a:off x="4660553" y="1195015"/>
            <a:ext cx="3987329" cy="467841"/>
          </a:xfrm>
          <a:prstGeom prst="rect">
            <a:avLst/>
          </a:prstGeom>
          <a:noFill/>
          <a:ln/>
        </p:spPr>
        <p:txBody>
          <a:bodyPr wrap="none" lIns="0" tIns="0" rIns="0" bIns="0" rtlCol="0" anchor="t"/>
          <a:lstStyle/>
          <a:p>
            <a:pPr algn="ctr" indent="0" marL="0">
              <a:lnSpc>
                <a:spcPct val="83000"/>
              </a:lnSpc>
              <a:buNone/>
            </a:pPr>
            <a:r>
              <a:rPr lang="en-US" sz="3650" b="1" dirty="0">
                <a:solidFill>
                  <a:srgbClr val="4B4A4A"/>
                </a:solidFill>
                <a:latin typeface="Noto Serif SC Bold" pitchFamily="34" charset="0"/>
                <a:ea typeface="Noto Serif SC Bold" pitchFamily="34" charset="-122"/>
                <a:cs typeface="Noto Serif SC Bold" pitchFamily="34" charset="-120"/>
              </a:rPr>
              <a:t>18</a:t>
            </a:r>
            <a:endParaRPr lang="en-US" sz="3650" dirty="0"/>
          </a:p>
        </p:txBody>
      </p:sp>
      <p:sp>
        <p:nvSpPr>
          <p:cNvPr id="7" name="Text 5"/>
          <p:cNvSpPr/>
          <p:nvPr/>
        </p:nvSpPr>
        <p:spPr>
          <a:xfrm>
            <a:off x="5768206" y="1839962"/>
            <a:ext cx="1772022" cy="221456"/>
          </a:xfrm>
          <a:prstGeom prst="rect">
            <a:avLst/>
          </a:prstGeom>
          <a:noFill/>
          <a:ln/>
        </p:spPr>
        <p:txBody>
          <a:bodyPr wrap="none" lIns="0" tIns="0" rIns="0" bIns="0" rtlCol="0" anchor="t"/>
          <a:lstStyle/>
          <a:p>
            <a:pPr algn="ctr" indent="0" marL="0">
              <a:lnSpc>
                <a:spcPct val="104000"/>
              </a:lnSpc>
              <a:buNone/>
            </a:pPr>
            <a:r>
              <a:rPr lang="en-US" sz="1350" b="1" dirty="0">
                <a:solidFill>
                  <a:srgbClr val="4B4A4A"/>
                </a:solidFill>
                <a:latin typeface="Noto Serif SC Bold" pitchFamily="34" charset="0"/>
                <a:ea typeface="Noto Serif SC Bold" pitchFamily="34" charset="-122"/>
                <a:cs typeface="Noto Serif SC Bold" pitchFamily="34" charset="-120"/>
              </a:rPr>
              <a:t>Columns</a:t>
            </a:r>
            <a:endParaRPr lang="en-US" sz="1350" dirty="0"/>
          </a:p>
        </p:txBody>
      </p:sp>
      <p:sp>
        <p:nvSpPr>
          <p:cNvPr id="8" name="Text 6"/>
          <p:cNvSpPr/>
          <p:nvPr/>
        </p:nvSpPr>
        <p:spPr>
          <a:xfrm>
            <a:off x="4660553" y="2146474"/>
            <a:ext cx="3987329" cy="226814"/>
          </a:xfrm>
          <a:prstGeom prst="rect">
            <a:avLst/>
          </a:prstGeom>
          <a:noFill/>
          <a:ln/>
        </p:spPr>
        <p:txBody>
          <a:bodyPr wrap="none" lIns="0" tIns="0" rIns="0" bIns="0" rtlCol="0" anchor="t"/>
          <a:lstStyle/>
          <a:p>
            <a:pPr algn="ctr" indent="0" marL="0">
              <a:lnSpc>
                <a:spcPct val="133000"/>
              </a:lnSpc>
              <a:buNone/>
            </a:pPr>
            <a:r>
              <a:rPr lang="en-US" sz="1100" dirty="0">
                <a:solidFill>
                  <a:srgbClr val="4B4A4A"/>
                </a:solidFill>
                <a:latin typeface="Geist" pitchFamily="34" charset="0"/>
                <a:ea typeface="Geist" pitchFamily="34" charset="-122"/>
                <a:cs typeface="Geist" pitchFamily="34" charset="-120"/>
              </a:rPr>
              <a:t>Demographics, purchases &amp; behavior</a:t>
            </a:r>
            <a:endParaRPr lang="en-US" sz="1100" dirty="0"/>
          </a:p>
        </p:txBody>
      </p:sp>
      <p:sp>
        <p:nvSpPr>
          <p:cNvPr id="9" name="Text 7"/>
          <p:cNvSpPr/>
          <p:nvPr/>
        </p:nvSpPr>
        <p:spPr>
          <a:xfrm>
            <a:off x="496119" y="2727647"/>
            <a:ext cx="3987254" cy="467841"/>
          </a:xfrm>
          <a:prstGeom prst="rect">
            <a:avLst/>
          </a:prstGeom>
          <a:noFill/>
          <a:ln/>
        </p:spPr>
        <p:txBody>
          <a:bodyPr wrap="none" lIns="0" tIns="0" rIns="0" bIns="0" rtlCol="0" anchor="t"/>
          <a:lstStyle/>
          <a:p>
            <a:pPr algn="ctr" indent="0" marL="0">
              <a:lnSpc>
                <a:spcPct val="83000"/>
              </a:lnSpc>
              <a:buNone/>
            </a:pPr>
            <a:r>
              <a:rPr lang="en-US" sz="3650" b="1" dirty="0">
                <a:solidFill>
                  <a:srgbClr val="4B4A4A"/>
                </a:solidFill>
                <a:latin typeface="Noto Serif SC Bold" pitchFamily="34" charset="0"/>
                <a:ea typeface="Noto Serif SC Bold" pitchFamily="34" charset="-122"/>
                <a:cs typeface="Noto Serif SC Bold" pitchFamily="34" charset="-120"/>
              </a:rPr>
              <a:t>37</a:t>
            </a:r>
            <a:endParaRPr lang="en-US" sz="3650" dirty="0"/>
          </a:p>
        </p:txBody>
      </p:sp>
      <p:sp>
        <p:nvSpPr>
          <p:cNvPr id="10" name="Text 8"/>
          <p:cNvSpPr/>
          <p:nvPr/>
        </p:nvSpPr>
        <p:spPr>
          <a:xfrm>
            <a:off x="1603697" y="3372594"/>
            <a:ext cx="1772022" cy="221456"/>
          </a:xfrm>
          <a:prstGeom prst="rect">
            <a:avLst/>
          </a:prstGeom>
          <a:noFill/>
          <a:ln/>
        </p:spPr>
        <p:txBody>
          <a:bodyPr wrap="none" lIns="0" tIns="0" rIns="0" bIns="0" rtlCol="0" anchor="t"/>
          <a:lstStyle/>
          <a:p>
            <a:pPr algn="ctr" indent="0" marL="0">
              <a:lnSpc>
                <a:spcPct val="104000"/>
              </a:lnSpc>
              <a:buNone/>
            </a:pPr>
            <a:r>
              <a:rPr lang="en-US" sz="1350" b="1" dirty="0">
                <a:solidFill>
                  <a:srgbClr val="4B4A4A"/>
                </a:solidFill>
                <a:latin typeface="Noto Serif SC Bold" pitchFamily="34" charset="0"/>
                <a:ea typeface="Noto Serif SC Bold" pitchFamily="34" charset="-122"/>
                <a:cs typeface="Noto Serif SC Bold" pitchFamily="34" charset="-120"/>
              </a:rPr>
              <a:t>Missing Values</a:t>
            </a:r>
            <a:endParaRPr lang="en-US" sz="1350" dirty="0"/>
          </a:p>
        </p:txBody>
      </p:sp>
      <p:sp>
        <p:nvSpPr>
          <p:cNvPr id="11" name="Text 9"/>
          <p:cNvSpPr/>
          <p:nvPr/>
        </p:nvSpPr>
        <p:spPr>
          <a:xfrm>
            <a:off x="496119" y="3679106"/>
            <a:ext cx="3987254" cy="226814"/>
          </a:xfrm>
          <a:prstGeom prst="rect">
            <a:avLst/>
          </a:prstGeom>
          <a:noFill/>
          <a:ln/>
        </p:spPr>
        <p:txBody>
          <a:bodyPr wrap="none" lIns="0" tIns="0" rIns="0" bIns="0" rtlCol="0" anchor="t"/>
          <a:lstStyle/>
          <a:p>
            <a:pPr algn="ctr" indent="0" marL="0">
              <a:lnSpc>
                <a:spcPct val="133000"/>
              </a:lnSpc>
              <a:buNone/>
            </a:pPr>
            <a:r>
              <a:rPr lang="en-US" sz="1100" dirty="0">
                <a:solidFill>
                  <a:srgbClr val="4B4A4A"/>
                </a:solidFill>
                <a:latin typeface="Geist" pitchFamily="34" charset="0"/>
                <a:ea typeface="Geist" pitchFamily="34" charset="-122"/>
                <a:cs typeface="Geist" pitchFamily="34" charset="-120"/>
              </a:rPr>
              <a:t>In Review Rating column only</a:t>
            </a:r>
            <a:endParaRPr lang="en-US" sz="1100" dirty="0"/>
          </a:p>
        </p:txBody>
      </p:sp>
      <p:sp>
        <p:nvSpPr>
          <p:cNvPr id="12" name="Text 10"/>
          <p:cNvSpPr/>
          <p:nvPr/>
        </p:nvSpPr>
        <p:spPr>
          <a:xfrm>
            <a:off x="4660553" y="2727647"/>
            <a:ext cx="3987329" cy="467841"/>
          </a:xfrm>
          <a:prstGeom prst="rect">
            <a:avLst/>
          </a:prstGeom>
          <a:noFill/>
          <a:ln/>
        </p:spPr>
        <p:txBody>
          <a:bodyPr wrap="none" lIns="0" tIns="0" rIns="0" bIns="0" rtlCol="0" anchor="t"/>
          <a:lstStyle/>
          <a:p>
            <a:pPr algn="ctr" indent="0" marL="0">
              <a:lnSpc>
                <a:spcPct val="83000"/>
              </a:lnSpc>
              <a:buNone/>
            </a:pPr>
            <a:r>
              <a:rPr lang="en-US" sz="3650" b="1" dirty="0">
                <a:solidFill>
                  <a:srgbClr val="4B4A4A"/>
                </a:solidFill>
                <a:latin typeface="Noto Serif SC Bold" pitchFamily="34" charset="0"/>
                <a:ea typeface="Noto Serif SC Bold" pitchFamily="34" charset="-122"/>
                <a:cs typeface="Noto Serif SC Bold" pitchFamily="34" charset="-120"/>
              </a:rPr>
              <a:t>50</a:t>
            </a:r>
            <a:endParaRPr lang="en-US" sz="3650" dirty="0"/>
          </a:p>
        </p:txBody>
      </p:sp>
      <p:sp>
        <p:nvSpPr>
          <p:cNvPr id="13" name="Text 11"/>
          <p:cNvSpPr/>
          <p:nvPr/>
        </p:nvSpPr>
        <p:spPr>
          <a:xfrm>
            <a:off x="5768206" y="3372594"/>
            <a:ext cx="1772022" cy="221456"/>
          </a:xfrm>
          <a:prstGeom prst="rect">
            <a:avLst/>
          </a:prstGeom>
          <a:noFill/>
          <a:ln/>
        </p:spPr>
        <p:txBody>
          <a:bodyPr wrap="none" lIns="0" tIns="0" rIns="0" bIns="0" rtlCol="0" anchor="t"/>
          <a:lstStyle/>
          <a:p>
            <a:pPr algn="ctr" indent="0" marL="0">
              <a:lnSpc>
                <a:spcPct val="104000"/>
              </a:lnSpc>
              <a:buNone/>
            </a:pPr>
            <a:r>
              <a:rPr lang="en-US" sz="1350" b="1" dirty="0">
                <a:solidFill>
                  <a:srgbClr val="4B4A4A"/>
                </a:solidFill>
                <a:latin typeface="Noto Serif SC Bold" pitchFamily="34" charset="0"/>
                <a:ea typeface="Noto Serif SC Bold" pitchFamily="34" charset="-122"/>
                <a:cs typeface="Noto Serif SC Bold" pitchFamily="34" charset="-120"/>
              </a:rPr>
              <a:t>Locations</a:t>
            </a:r>
            <a:endParaRPr lang="en-US" sz="1350" dirty="0"/>
          </a:p>
        </p:txBody>
      </p:sp>
      <p:sp>
        <p:nvSpPr>
          <p:cNvPr id="14" name="Text 12"/>
          <p:cNvSpPr/>
          <p:nvPr/>
        </p:nvSpPr>
        <p:spPr>
          <a:xfrm>
            <a:off x="4660553" y="3679106"/>
            <a:ext cx="3987329" cy="226814"/>
          </a:xfrm>
          <a:prstGeom prst="rect">
            <a:avLst/>
          </a:prstGeom>
          <a:noFill/>
          <a:ln/>
        </p:spPr>
        <p:txBody>
          <a:bodyPr wrap="none" lIns="0" tIns="0" rIns="0" bIns="0" rtlCol="0" anchor="t"/>
          <a:lstStyle/>
          <a:p>
            <a:pPr algn="ctr" indent="0" marL="0">
              <a:lnSpc>
                <a:spcPct val="133000"/>
              </a:lnSpc>
              <a:buNone/>
            </a:pPr>
            <a:r>
              <a:rPr lang="en-US" sz="1100" dirty="0">
                <a:solidFill>
                  <a:srgbClr val="4B4A4A"/>
                </a:solidFill>
                <a:latin typeface="Geist" pitchFamily="34" charset="0"/>
                <a:ea typeface="Geist" pitchFamily="34" charset="-122"/>
                <a:cs typeface="Geist" pitchFamily="34" charset="-120"/>
              </a:rPr>
              <a:t>Geographic coverage</a:t>
            </a:r>
            <a:endParaRPr lang="en-US" sz="1100" dirty="0"/>
          </a:p>
        </p:txBody>
      </p:sp>
      <p:sp>
        <p:nvSpPr>
          <p:cNvPr id="15" name="Text 13"/>
          <p:cNvSpPr/>
          <p:nvPr/>
        </p:nvSpPr>
        <p:spPr>
          <a:xfrm>
            <a:off x="496119" y="4065389"/>
            <a:ext cx="8151763"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Key features include customer demographics (Age, Gender, Location, Subscription Status), purchase details (Item Purchased, Category, Purchase Amount, Season, Size, Color), and shopping behavior (Discount Applied, Previous Purchases, Frequency, Review Rating, Shipping Type).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1168078"/>
            <a:ext cx="5369347" cy="442987"/>
          </a:xfrm>
          <a:prstGeom prst="rect">
            <a:avLst/>
          </a:prstGeom>
          <a:noFill/>
          <a:ln/>
        </p:spPr>
        <p:txBody>
          <a:bodyPr wrap="none" lIns="0" tIns="0" rIns="0" bIns="0" rtlCol="0" anchor="t"/>
          <a:lstStyle/>
          <a:p>
            <a:pPr algn="l" indent="0" marL="0">
              <a:lnSpc>
                <a:spcPct val="104000"/>
              </a:lnSpc>
              <a:buNone/>
            </a:pPr>
            <a:r>
              <a:rPr lang="en-US" sz="2750" b="1" dirty="0">
                <a:solidFill>
                  <a:srgbClr val="006747"/>
                </a:solidFill>
                <a:latin typeface="Noto Serif SC Bold" pitchFamily="34" charset="0"/>
                <a:ea typeface="Noto Serif SC Bold" pitchFamily="34" charset="-122"/>
                <a:cs typeface="Noto Serif SC Bold" pitchFamily="34" charset="-120"/>
              </a:rPr>
              <a:t>Data Preparation in Python</a:t>
            </a:r>
            <a:endParaRPr lang="en-US" sz="2750" dirty="0"/>
          </a:p>
        </p:txBody>
      </p:sp>
      <p:sp>
        <p:nvSpPr>
          <p:cNvPr id="3" name="Shape 1"/>
          <p:cNvSpPr/>
          <p:nvPr/>
        </p:nvSpPr>
        <p:spPr>
          <a:xfrm>
            <a:off x="496119" y="1823665"/>
            <a:ext cx="318939" cy="318939"/>
          </a:xfrm>
          <a:prstGeom prst="roundRect">
            <a:avLst>
              <a:gd name="adj" fmla="val 40005"/>
            </a:avLst>
          </a:prstGeom>
          <a:solidFill>
            <a:srgbClr val="D1EFE4"/>
          </a:solidFill>
          <a:ln w="4763">
            <a:solidFill>
              <a:srgbClr val="B7D5CA"/>
            </a:solidFill>
            <a:prstDash val="solid"/>
          </a:ln>
        </p:spPr>
      </p:sp>
      <p:sp>
        <p:nvSpPr>
          <p:cNvPr id="4" name="Text 2"/>
          <p:cNvSpPr/>
          <p:nvPr/>
        </p:nvSpPr>
        <p:spPr>
          <a:xfrm>
            <a:off x="549287" y="1850231"/>
            <a:ext cx="212601" cy="265807"/>
          </a:xfrm>
          <a:prstGeom prst="rect">
            <a:avLst/>
          </a:prstGeom>
          <a:noFill/>
          <a:ln/>
        </p:spPr>
        <p:txBody>
          <a:bodyPr wrap="none" lIns="0" tIns="0" rIns="0" bIns="0" rtlCol="0" anchor="ctr"/>
          <a:lstStyle/>
          <a:p>
            <a:pPr algn="ctr" indent="0" marL="0">
              <a:lnSpc>
                <a:spcPct val="100000"/>
              </a:lnSpc>
              <a:buNone/>
            </a:pPr>
            <a:r>
              <a:rPr lang="en-US" sz="1650" b="1" dirty="0">
                <a:solidFill>
                  <a:srgbClr val="4B4A4A"/>
                </a:solidFill>
                <a:latin typeface="Noto Serif SC Bold" pitchFamily="34" charset="0"/>
                <a:ea typeface="Noto Serif SC Bold" pitchFamily="34" charset="-122"/>
                <a:cs typeface="Noto Serif SC Bold" pitchFamily="34" charset="-120"/>
              </a:rPr>
              <a:t>1</a:t>
            </a:r>
            <a:endParaRPr lang="en-US" sz="1650" dirty="0"/>
          </a:p>
        </p:txBody>
      </p:sp>
      <p:sp>
        <p:nvSpPr>
          <p:cNvPr id="5" name="Text 3"/>
          <p:cNvSpPr/>
          <p:nvPr/>
        </p:nvSpPr>
        <p:spPr>
          <a:xfrm>
            <a:off x="956816" y="1872332"/>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B4A4A"/>
                </a:solidFill>
                <a:latin typeface="Noto Serif SC Bold" pitchFamily="34" charset="0"/>
                <a:ea typeface="Noto Serif SC Bold" pitchFamily="34" charset="-122"/>
                <a:cs typeface="Noto Serif SC Bold" pitchFamily="34" charset="-120"/>
              </a:rPr>
              <a:t>Load &amp; Explore</a:t>
            </a:r>
            <a:endParaRPr lang="en-US" sz="1350" dirty="0"/>
          </a:p>
        </p:txBody>
      </p:sp>
      <p:sp>
        <p:nvSpPr>
          <p:cNvPr id="6" name="Text 4"/>
          <p:cNvSpPr/>
          <p:nvPr/>
        </p:nvSpPr>
        <p:spPr>
          <a:xfrm>
            <a:off x="956816" y="2178844"/>
            <a:ext cx="3526557" cy="463153"/>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Imported dataset via pandas; used </a:t>
            </a:r>
            <a:pPr algn="l" indent="0" marL="0">
              <a:lnSpc>
                <a:spcPct val="133000"/>
              </a:lnSpc>
              <a:buNone/>
            </a:pPr>
            <a:r>
              <a:rPr lang="en-US" sz="1100" dirty="0">
                <a:solidFill>
                  <a:srgbClr val="4B4A4A"/>
                </a:solidFill>
                <a:highlight>
                  <a:srgbClr val="D8ECE5"/>
                </a:highlight>
                <a:latin typeface="Consolas" pitchFamily="34" charset="0"/>
                <a:ea typeface="Consolas" pitchFamily="34" charset="-122"/>
                <a:cs typeface="Consolas" pitchFamily="34" charset="-120"/>
              </a:rPr>
              <a:t>df.info()</a:t>
            </a:r>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 and </a:t>
            </a:r>
            <a:pPr algn="l" indent="0" marL="0">
              <a:lnSpc>
                <a:spcPct val="133000"/>
              </a:lnSpc>
              <a:buNone/>
            </a:pPr>
            <a:r>
              <a:rPr lang="en-US" sz="1100" dirty="0">
                <a:solidFill>
                  <a:srgbClr val="4B4A4A"/>
                </a:solidFill>
                <a:highlight>
                  <a:srgbClr val="D8ECE5"/>
                </a:highlight>
                <a:latin typeface="Consolas" pitchFamily="34" charset="0"/>
                <a:ea typeface="Consolas" pitchFamily="34" charset="-122"/>
                <a:cs typeface="Consolas" pitchFamily="34" charset="-120"/>
              </a:rPr>
              <a:t>.describe()</a:t>
            </a:r>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 for initial structure checks.</a:t>
            </a:r>
            <a:endParaRPr lang="en-US" sz="1100" dirty="0"/>
          </a:p>
        </p:txBody>
      </p:sp>
      <p:sp>
        <p:nvSpPr>
          <p:cNvPr id="7" name="Shape 5"/>
          <p:cNvSpPr/>
          <p:nvPr/>
        </p:nvSpPr>
        <p:spPr>
          <a:xfrm>
            <a:off x="4660553" y="1823665"/>
            <a:ext cx="318939" cy="318939"/>
          </a:xfrm>
          <a:prstGeom prst="roundRect">
            <a:avLst>
              <a:gd name="adj" fmla="val 40005"/>
            </a:avLst>
          </a:prstGeom>
          <a:solidFill>
            <a:srgbClr val="D1EFE4"/>
          </a:solidFill>
          <a:ln w="4763">
            <a:solidFill>
              <a:srgbClr val="B7D5CA"/>
            </a:solidFill>
            <a:prstDash val="solid"/>
          </a:ln>
        </p:spPr>
      </p:sp>
      <p:sp>
        <p:nvSpPr>
          <p:cNvPr id="8" name="Text 6"/>
          <p:cNvSpPr/>
          <p:nvPr/>
        </p:nvSpPr>
        <p:spPr>
          <a:xfrm>
            <a:off x="4713722" y="1850231"/>
            <a:ext cx="212601" cy="265807"/>
          </a:xfrm>
          <a:prstGeom prst="rect">
            <a:avLst/>
          </a:prstGeom>
          <a:noFill/>
          <a:ln/>
        </p:spPr>
        <p:txBody>
          <a:bodyPr wrap="none" lIns="0" tIns="0" rIns="0" bIns="0" rtlCol="0" anchor="ctr"/>
          <a:lstStyle/>
          <a:p>
            <a:pPr algn="ctr" indent="0" marL="0">
              <a:lnSpc>
                <a:spcPct val="100000"/>
              </a:lnSpc>
              <a:buNone/>
            </a:pPr>
            <a:r>
              <a:rPr lang="en-US" sz="1650" b="1" dirty="0">
                <a:solidFill>
                  <a:srgbClr val="4B4A4A"/>
                </a:solidFill>
                <a:latin typeface="Noto Serif SC Bold" pitchFamily="34" charset="0"/>
                <a:ea typeface="Noto Serif SC Bold" pitchFamily="34" charset="-122"/>
                <a:cs typeface="Noto Serif SC Bold" pitchFamily="34" charset="-120"/>
              </a:rPr>
              <a:t>2</a:t>
            </a:r>
            <a:endParaRPr lang="en-US" sz="1650" dirty="0"/>
          </a:p>
        </p:txBody>
      </p:sp>
      <p:sp>
        <p:nvSpPr>
          <p:cNvPr id="9" name="Text 7"/>
          <p:cNvSpPr/>
          <p:nvPr/>
        </p:nvSpPr>
        <p:spPr>
          <a:xfrm>
            <a:off x="5121250" y="1872332"/>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B4A4A"/>
                </a:solidFill>
                <a:latin typeface="Noto Serif SC Bold" pitchFamily="34" charset="0"/>
                <a:ea typeface="Noto Serif SC Bold" pitchFamily="34" charset="-122"/>
                <a:cs typeface="Noto Serif SC Bold" pitchFamily="34" charset="-120"/>
              </a:rPr>
              <a:t>Clean Missing Data</a:t>
            </a:r>
            <a:endParaRPr lang="en-US" sz="1350" dirty="0"/>
          </a:p>
        </p:txBody>
      </p:sp>
      <p:sp>
        <p:nvSpPr>
          <p:cNvPr id="10" name="Text 8"/>
          <p:cNvSpPr/>
          <p:nvPr/>
        </p:nvSpPr>
        <p:spPr>
          <a:xfrm>
            <a:off x="5121250" y="2178844"/>
            <a:ext cx="3526631"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Imputed missing Review Rating values using median rating per product category.</a:t>
            </a:r>
            <a:endParaRPr lang="en-US" sz="1100" dirty="0"/>
          </a:p>
        </p:txBody>
      </p:sp>
      <p:sp>
        <p:nvSpPr>
          <p:cNvPr id="11" name="Shape 9"/>
          <p:cNvSpPr/>
          <p:nvPr/>
        </p:nvSpPr>
        <p:spPr>
          <a:xfrm>
            <a:off x="496119" y="2925514"/>
            <a:ext cx="318939" cy="318939"/>
          </a:xfrm>
          <a:prstGeom prst="roundRect">
            <a:avLst>
              <a:gd name="adj" fmla="val 40005"/>
            </a:avLst>
          </a:prstGeom>
          <a:solidFill>
            <a:srgbClr val="D1EFE4"/>
          </a:solidFill>
          <a:ln w="4763">
            <a:solidFill>
              <a:srgbClr val="B7D5CA"/>
            </a:solidFill>
            <a:prstDash val="solid"/>
          </a:ln>
        </p:spPr>
      </p:sp>
      <p:sp>
        <p:nvSpPr>
          <p:cNvPr id="12" name="Text 10"/>
          <p:cNvSpPr/>
          <p:nvPr/>
        </p:nvSpPr>
        <p:spPr>
          <a:xfrm>
            <a:off x="549287" y="2952080"/>
            <a:ext cx="212601" cy="265807"/>
          </a:xfrm>
          <a:prstGeom prst="rect">
            <a:avLst/>
          </a:prstGeom>
          <a:noFill/>
          <a:ln/>
        </p:spPr>
        <p:txBody>
          <a:bodyPr wrap="none" lIns="0" tIns="0" rIns="0" bIns="0" rtlCol="0" anchor="ctr"/>
          <a:lstStyle/>
          <a:p>
            <a:pPr algn="ctr" indent="0" marL="0">
              <a:lnSpc>
                <a:spcPct val="100000"/>
              </a:lnSpc>
              <a:buNone/>
            </a:pPr>
            <a:r>
              <a:rPr lang="en-US" sz="1650" b="1" dirty="0">
                <a:solidFill>
                  <a:srgbClr val="4B4A4A"/>
                </a:solidFill>
                <a:latin typeface="Noto Serif SC Bold" pitchFamily="34" charset="0"/>
                <a:ea typeface="Noto Serif SC Bold" pitchFamily="34" charset="-122"/>
                <a:cs typeface="Noto Serif SC Bold" pitchFamily="34" charset="-120"/>
              </a:rPr>
              <a:t>3</a:t>
            </a:r>
            <a:endParaRPr lang="en-US" sz="1650" dirty="0"/>
          </a:p>
        </p:txBody>
      </p:sp>
      <p:sp>
        <p:nvSpPr>
          <p:cNvPr id="13" name="Text 11"/>
          <p:cNvSpPr/>
          <p:nvPr/>
        </p:nvSpPr>
        <p:spPr>
          <a:xfrm>
            <a:off x="956816" y="2974181"/>
            <a:ext cx="1894210" cy="221456"/>
          </a:xfrm>
          <a:prstGeom prst="rect">
            <a:avLst/>
          </a:prstGeom>
          <a:noFill/>
          <a:ln/>
        </p:spPr>
        <p:txBody>
          <a:bodyPr wrap="none" lIns="0" tIns="0" rIns="0" bIns="0" rtlCol="0" anchor="t"/>
          <a:lstStyle/>
          <a:p>
            <a:pPr algn="l" indent="0" marL="0">
              <a:lnSpc>
                <a:spcPct val="104000"/>
              </a:lnSpc>
              <a:buNone/>
            </a:pPr>
            <a:r>
              <a:rPr lang="en-US" sz="1350" b="1" dirty="0">
                <a:solidFill>
                  <a:srgbClr val="4B4A4A"/>
                </a:solidFill>
                <a:latin typeface="Noto Serif SC Bold" pitchFamily="34" charset="0"/>
                <a:ea typeface="Noto Serif SC Bold" pitchFamily="34" charset="-122"/>
                <a:cs typeface="Noto Serif SC Bold" pitchFamily="34" charset="-120"/>
              </a:rPr>
              <a:t>Database Integration</a:t>
            </a:r>
            <a:endParaRPr lang="en-US" sz="1350" dirty="0"/>
          </a:p>
        </p:txBody>
      </p:sp>
      <p:sp>
        <p:nvSpPr>
          <p:cNvPr id="14" name="Text 12"/>
          <p:cNvSpPr/>
          <p:nvPr/>
        </p:nvSpPr>
        <p:spPr>
          <a:xfrm>
            <a:off x="956816" y="3280693"/>
            <a:ext cx="3526557"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Loaded cleaned DataFrame into PostgreSQL for SQL analysis.</a:t>
            </a:r>
            <a:endParaRPr lang="en-US" sz="1100" dirty="0"/>
          </a:p>
        </p:txBody>
      </p:sp>
      <p:sp>
        <p:nvSpPr>
          <p:cNvPr id="15" name="Shape 13"/>
          <p:cNvSpPr/>
          <p:nvPr/>
        </p:nvSpPr>
        <p:spPr>
          <a:xfrm>
            <a:off x="4660553" y="2925514"/>
            <a:ext cx="318939" cy="318939"/>
          </a:xfrm>
          <a:prstGeom prst="roundRect">
            <a:avLst>
              <a:gd name="adj" fmla="val 40005"/>
            </a:avLst>
          </a:prstGeom>
          <a:solidFill>
            <a:srgbClr val="D1EFE4"/>
          </a:solidFill>
          <a:ln w="4763">
            <a:solidFill>
              <a:srgbClr val="B7D5CA"/>
            </a:solidFill>
            <a:prstDash val="solid"/>
          </a:ln>
        </p:spPr>
      </p:sp>
      <p:sp>
        <p:nvSpPr>
          <p:cNvPr id="16" name="Text 14"/>
          <p:cNvSpPr/>
          <p:nvPr/>
        </p:nvSpPr>
        <p:spPr>
          <a:xfrm>
            <a:off x="4713722" y="2952080"/>
            <a:ext cx="212601" cy="265807"/>
          </a:xfrm>
          <a:prstGeom prst="rect">
            <a:avLst/>
          </a:prstGeom>
          <a:noFill/>
          <a:ln/>
        </p:spPr>
        <p:txBody>
          <a:bodyPr wrap="none" lIns="0" tIns="0" rIns="0" bIns="0" rtlCol="0" anchor="ctr"/>
          <a:lstStyle/>
          <a:p>
            <a:pPr algn="ctr" indent="0" marL="0">
              <a:lnSpc>
                <a:spcPct val="100000"/>
              </a:lnSpc>
              <a:buNone/>
            </a:pPr>
            <a:r>
              <a:rPr lang="en-US" sz="1650" b="1" dirty="0">
                <a:solidFill>
                  <a:srgbClr val="4B4A4A"/>
                </a:solidFill>
                <a:latin typeface="Noto Serif SC Bold" pitchFamily="34" charset="0"/>
                <a:ea typeface="Noto Serif SC Bold" pitchFamily="34" charset="-122"/>
                <a:cs typeface="Noto Serif SC Bold" pitchFamily="34" charset="-120"/>
              </a:rPr>
              <a:t>4</a:t>
            </a:r>
            <a:endParaRPr lang="en-US" sz="1650" dirty="0"/>
          </a:p>
        </p:txBody>
      </p:sp>
      <p:sp>
        <p:nvSpPr>
          <p:cNvPr id="17" name="Text 15"/>
          <p:cNvSpPr/>
          <p:nvPr/>
        </p:nvSpPr>
        <p:spPr>
          <a:xfrm>
            <a:off x="5121250" y="2974181"/>
            <a:ext cx="1836241" cy="221456"/>
          </a:xfrm>
          <a:prstGeom prst="rect">
            <a:avLst/>
          </a:prstGeom>
          <a:noFill/>
          <a:ln/>
        </p:spPr>
        <p:txBody>
          <a:bodyPr wrap="none" lIns="0" tIns="0" rIns="0" bIns="0" rtlCol="0" anchor="t"/>
          <a:lstStyle/>
          <a:p>
            <a:pPr algn="l" indent="0" marL="0">
              <a:lnSpc>
                <a:spcPct val="104000"/>
              </a:lnSpc>
              <a:buNone/>
            </a:pPr>
            <a:r>
              <a:rPr lang="en-US" sz="1350" b="1" dirty="0">
                <a:solidFill>
                  <a:srgbClr val="4B4A4A"/>
                </a:solidFill>
                <a:latin typeface="Noto Serif SC Bold" pitchFamily="34" charset="0"/>
                <a:ea typeface="Noto Serif SC Bold" pitchFamily="34" charset="-122"/>
                <a:cs typeface="Noto Serif SC Bold" pitchFamily="34" charset="-120"/>
              </a:rPr>
              <a:t>Feature Engineering</a:t>
            </a:r>
            <a:endParaRPr lang="en-US" sz="1350" dirty="0"/>
          </a:p>
        </p:txBody>
      </p:sp>
      <p:sp>
        <p:nvSpPr>
          <p:cNvPr id="18" name="Text 16"/>
          <p:cNvSpPr/>
          <p:nvPr/>
        </p:nvSpPr>
        <p:spPr>
          <a:xfrm>
            <a:off x="5121250" y="3280693"/>
            <a:ext cx="3526631" cy="694730"/>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Created </a:t>
            </a:r>
            <a:pPr algn="l" indent="0" marL="0">
              <a:lnSpc>
                <a:spcPct val="133000"/>
              </a:lnSpc>
              <a:buNone/>
            </a:pPr>
            <a:r>
              <a:rPr lang="en-US" sz="1100" dirty="0">
                <a:solidFill>
                  <a:srgbClr val="4B4A4A"/>
                </a:solidFill>
                <a:highlight>
                  <a:srgbClr val="D8ECE5"/>
                </a:highlight>
                <a:latin typeface="Consolas" pitchFamily="34" charset="0"/>
                <a:ea typeface="Consolas" pitchFamily="34" charset="-122"/>
                <a:cs typeface="Consolas" pitchFamily="34" charset="-120"/>
              </a:rPr>
              <a:t>age_group</a:t>
            </a:r>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 bins and </a:t>
            </a:r>
            <a:pPr algn="l" indent="0" marL="0">
              <a:lnSpc>
                <a:spcPct val="133000"/>
              </a:lnSpc>
              <a:buNone/>
            </a:pPr>
            <a:r>
              <a:rPr lang="en-US" sz="1100" dirty="0">
                <a:solidFill>
                  <a:srgbClr val="4B4A4A"/>
                </a:solidFill>
                <a:highlight>
                  <a:srgbClr val="D8ECE5"/>
                </a:highlight>
                <a:latin typeface="Consolas" pitchFamily="34" charset="0"/>
                <a:ea typeface="Consolas" pitchFamily="34" charset="-122"/>
                <a:cs typeface="Consolas" pitchFamily="34" charset="-120"/>
              </a:rPr>
              <a:t>purchase_frequency_days</a:t>
            </a:r>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 dropped redundant </a:t>
            </a:r>
            <a:pPr algn="l" indent="0" marL="0">
              <a:lnSpc>
                <a:spcPct val="133000"/>
              </a:lnSpc>
              <a:buNone/>
            </a:pPr>
            <a:r>
              <a:rPr lang="en-US" sz="1100" dirty="0">
                <a:solidFill>
                  <a:srgbClr val="4B4A4A"/>
                </a:solidFill>
                <a:highlight>
                  <a:srgbClr val="D8ECE5"/>
                </a:highlight>
                <a:latin typeface="Consolas" pitchFamily="34" charset="0"/>
                <a:ea typeface="Consolas" pitchFamily="34" charset="-122"/>
                <a:cs typeface="Consolas" pitchFamily="34" charset="-120"/>
              </a:rPr>
              <a:t>promo_code_used</a:t>
            </a:r>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 column.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679772"/>
            <a:ext cx="6729040" cy="442987"/>
          </a:xfrm>
          <a:prstGeom prst="rect">
            <a:avLst/>
          </a:prstGeom>
          <a:noFill/>
          <a:ln/>
        </p:spPr>
        <p:txBody>
          <a:bodyPr wrap="none" lIns="0" tIns="0" rIns="0" bIns="0" rtlCol="0" anchor="t"/>
          <a:lstStyle/>
          <a:p>
            <a:pPr algn="l" indent="0" marL="0">
              <a:lnSpc>
                <a:spcPct val="104000"/>
              </a:lnSpc>
              <a:buNone/>
            </a:pPr>
            <a:r>
              <a:rPr lang="en-US" sz="2750" b="1" dirty="0">
                <a:solidFill>
                  <a:srgbClr val="006747"/>
                </a:solidFill>
                <a:latin typeface="Noto Serif SC Bold" pitchFamily="34" charset="0"/>
                <a:ea typeface="Noto Serif SC Bold" pitchFamily="34" charset="-122"/>
                <a:cs typeface="Noto Serif SC Bold" pitchFamily="34" charset="-120"/>
              </a:rPr>
              <a:t>Revenue &amp; High-Spending Insights</a:t>
            </a:r>
            <a:endParaRPr lang="en-US" sz="2750" dirty="0"/>
          </a:p>
        </p:txBody>
      </p:sp>
      <p:pic>
        <p:nvPicPr>
          <p:cNvPr id="3" name="Image 0" descr="preencoded.png">    </p:cNvPr>
          <p:cNvPicPr>
            <a:picLocks noChangeAspect="1"/>
          </p:cNvPicPr>
          <p:nvPr/>
        </p:nvPicPr>
        <p:blipFill>
          <a:blip r:embed="rId1"/>
          <a:stretch>
            <a:fillRect/>
          </a:stretch>
        </p:blipFill>
        <p:spPr>
          <a:xfrm>
            <a:off x="496119" y="1494830"/>
            <a:ext cx="3902943" cy="2809354"/>
          </a:xfrm>
          <a:prstGeom prst="rect">
            <a:avLst/>
          </a:prstGeom>
        </p:spPr>
      </p:pic>
      <p:sp>
        <p:nvSpPr>
          <p:cNvPr id="4" name="Text 1"/>
          <p:cNvSpPr/>
          <p:nvPr/>
        </p:nvSpPr>
        <p:spPr>
          <a:xfrm>
            <a:off x="4749701" y="1477119"/>
            <a:ext cx="2229222" cy="221456"/>
          </a:xfrm>
          <a:prstGeom prst="rect">
            <a:avLst/>
          </a:prstGeom>
          <a:noFill/>
          <a:ln/>
        </p:spPr>
        <p:txBody>
          <a:bodyPr wrap="none" lIns="0" tIns="0" rIns="0" bIns="0" rtlCol="0" anchor="t"/>
          <a:lstStyle/>
          <a:p>
            <a:pPr algn="l" indent="0" marL="0">
              <a:lnSpc>
                <a:spcPct val="104000"/>
              </a:lnSpc>
              <a:buNone/>
            </a:pPr>
            <a:r>
              <a:rPr lang="en-US" sz="1350" b="1" dirty="0">
                <a:solidFill>
                  <a:srgbClr val="006747"/>
                </a:solidFill>
                <a:latin typeface="Noto Serif SC Bold" pitchFamily="34" charset="0"/>
                <a:ea typeface="Noto Serif SC Bold" pitchFamily="34" charset="-122"/>
                <a:cs typeface="Noto Serif SC Bold" pitchFamily="34" charset="-120"/>
              </a:rPr>
              <a:t>Revenue by Gender</a:t>
            </a:r>
            <a:endParaRPr lang="en-US" sz="1350" dirty="0"/>
          </a:p>
        </p:txBody>
      </p:sp>
      <p:sp>
        <p:nvSpPr>
          <p:cNvPr id="5" name="Text 2"/>
          <p:cNvSpPr/>
          <p:nvPr/>
        </p:nvSpPr>
        <p:spPr>
          <a:xfrm>
            <a:off x="4749701" y="1840334"/>
            <a:ext cx="3902943"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Male customers generated </a:t>
            </a:r>
            <a:pPr algn="l" indent="0" marL="0">
              <a:lnSpc>
                <a:spcPct val="133000"/>
              </a:lnSpc>
              <a:buNone/>
            </a:pPr>
            <a:r>
              <a:rPr lang="en-US" sz="1100" b="1" dirty="0">
                <a:solidFill>
                  <a:srgbClr val="4B4A4A"/>
                </a:solidFill>
                <a:latin typeface="Geist" pitchFamily="34" charset="0"/>
                <a:ea typeface="Geist" pitchFamily="34" charset="-122"/>
                <a:cs typeface="Geist" pitchFamily="34" charset="-120"/>
              </a:rPr>
              <a:t>$157,890</a:t>
            </a:r>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 vs. </a:t>
            </a:r>
            <a:pPr algn="l" indent="0" marL="0">
              <a:lnSpc>
                <a:spcPct val="133000"/>
              </a:lnSpc>
              <a:buNone/>
            </a:pPr>
            <a:r>
              <a:rPr lang="en-US" sz="1100" b="1" dirty="0">
                <a:solidFill>
                  <a:srgbClr val="4B4A4A"/>
                </a:solidFill>
                <a:latin typeface="Geist" pitchFamily="34" charset="0"/>
                <a:ea typeface="Geist" pitchFamily="34" charset="-122"/>
                <a:cs typeface="Geist" pitchFamily="34" charset="-120"/>
              </a:rPr>
              <a:t>$75,191</a:t>
            </a:r>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 from female customers — more than double the revenue.</a:t>
            </a:r>
            <a:endParaRPr lang="en-US" sz="1100" dirty="0"/>
          </a:p>
        </p:txBody>
      </p:sp>
      <p:sp>
        <p:nvSpPr>
          <p:cNvPr id="6" name="Shape 3"/>
          <p:cNvSpPr/>
          <p:nvPr/>
        </p:nvSpPr>
        <p:spPr>
          <a:xfrm>
            <a:off x="4749701" y="2488853"/>
            <a:ext cx="3902943" cy="10567"/>
          </a:xfrm>
          <a:prstGeom prst="rect">
            <a:avLst/>
          </a:prstGeom>
          <a:solidFill>
            <a:srgbClr val="4B4A4A">
              <a:alpha val="50000"/>
            </a:srgbClr>
          </a:solidFill>
          <a:ln/>
        </p:spPr>
      </p:sp>
      <p:sp>
        <p:nvSpPr>
          <p:cNvPr id="7" name="Text 4"/>
          <p:cNvSpPr/>
          <p:nvPr/>
        </p:nvSpPr>
        <p:spPr>
          <a:xfrm>
            <a:off x="4749701" y="2694310"/>
            <a:ext cx="3214092" cy="221456"/>
          </a:xfrm>
          <a:prstGeom prst="rect">
            <a:avLst/>
          </a:prstGeom>
          <a:noFill/>
          <a:ln/>
        </p:spPr>
        <p:txBody>
          <a:bodyPr wrap="none" lIns="0" tIns="0" rIns="0" bIns="0" rtlCol="0" anchor="t"/>
          <a:lstStyle/>
          <a:p>
            <a:pPr algn="l" indent="0" marL="0">
              <a:lnSpc>
                <a:spcPct val="104000"/>
              </a:lnSpc>
              <a:buNone/>
            </a:pPr>
            <a:r>
              <a:rPr lang="en-US" sz="1350" b="1" dirty="0">
                <a:solidFill>
                  <a:srgbClr val="006747"/>
                </a:solidFill>
                <a:latin typeface="Noto Serif SC Bold" pitchFamily="34" charset="0"/>
                <a:ea typeface="Noto Serif SC Bold" pitchFamily="34" charset="-122"/>
                <a:cs typeface="Noto Serif SC Bold" pitchFamily="34" charset="-120"/>
              </a:rPr>
              <a:t>High-Spending Discount Users</a:t>
            </a:r>
            <a:endParaRPr lang="en-US" sz="1350" dirty="0"/>
          </a:p>
        </p:txBody>
      </p:sp>
      <p:sp>
        <p:nvSpPr>
          <p:cNvPr id="8" name="Text 5"/>
          <p:cNvSpPr/>
          <p:nvPr/>
        </p:nvSpPr>
        <p:spPr>
          <a:xfrm>
            <a:off x="4749701" y="3057525"/>
            <a:ext cx="3902943" cy="680442"/>
          </a:xfrm>
          <a:prstGeom prst="rect">
            <a:avLst/>
          </a:prstGeom>
          <a:noFill/>
          <a:ln/>
        </p:spPr>
        <p:txBody>
          <a:bodyPr wrap="square" lIns="0" tIns="0" rIns="0" bIns="0" rtlCol="0" anchor="t">
            <a:normAutofit/>
          </a:bodyPr>
          <a:lstStyle/>
          <a:p>
            <a:pPr algn="l" indent="0" marL="0">
              <a:lnSpc>
                <a:spcPct val="133000"/>
              </a:lnSpc>
              <a:buNone/>
            </a:pPr>
            <a:r>
              <a:rPr lang="en-US" sz="1100" b="1" dirty="0">
                <a:solidFill>
                  <a:srgbClr val="4B4A4A"/>
                </a:solidFill>
                <a:latin typeface="Geist" pitchFamily="34" charset="0"/>
                <a:ea typeface="Geist" pitchFamily="34" charset="-122"/>
                <a:cs typeface="Geist" pitchFamily="34" charset="-120"/>
              </a:rPr>
              <a:t>839 customers</a:t>
            </a:r>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 used discounts yet still spent above the average purchase amount — indicating strong price sensitivity paired with high purchase intent.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679772"/>
            <a:ext cx="6526709" cy="442987"/>
          </a:xfrm>
          <a:prstGeom prst="rect">
            <a:avLst/>
          </a:prstGeom>
          <a:noFill/>
          <a:ln/>
        </p:spPr>
        <p:txBody>
          <a:bodyPr wrap="none" lIns="0" tIns="0" rIns="0" bIns="0" rtlCol="0" anchor="t"/>
          <a:lstStyle/>
          <a:p>
            <a:pPr algn="l" indent="0" marL="0">
              <a:lnSpc>
                <a:spcPct val="104000"/>
              </a:lnSpc>
              <a:buNone/>
            </a:pPr>
            <a:r>
              <a:rPr lang="en-US" sz="2750" b="1" dirty="0">
                <a:solidFill>
                  <a:srgbClr val="006747"/>
                </a:solidFill>
                <a:latin typeface="Noto Serif SC Bold" pitchFamily="34" charset="0"/>
                <a:ea typeface="Noto Serif SC Bold" pitchFamily="34" charset="-122"/>
                <a:cs typeface="Noto Serif SC Bold" pitchFamily="34" charset="-120"/>
              </a:rPr>
              <a:t>Top Products &amp; Shipping Analysis</a:t>
            </a:r>
            <a:endParaRPr lang="en-US" sz="2750" dirty="0"/>
          </a:p>
        </p:txBody>
      </p:sp>
      <p:pic>
        <p:nvPicPr>
          <p:cNvPr id="3" name="Image 0" descr="preencoded.png">    </p:cNvPr>
          <p:cNvPicPr>
            <a:picLocks noChangeAspect="1"/>
          </p:cNvPicPr>
          <p:nvPr/>
        </p:nvPicPr>
        <p:blipFill>
          <a:blip r:embed="rId1"/>
          <a:stretch>
            <a:fillRect/>
          </a:stretch>
        </p:blipFill>
        <p:spPr>
          <a:xfrm>
            <a:off x="496119" y="1494830"/>
            <a:ext cx="3902943" cy="2809354"/>
          </a:xfrm>
          <a:prstGeom prst="rect">
            <a:avLst/>
          </a:prstGeom>
        </p:spPr>
      </p:pic>
      <p:sp>
        <p:nvSpPr>
          <p:cNvPr id="4" name="Text 1"/>
          <p:cNvSpPr/>
          <p:nvPr/>
        </p:nvSpPr>
        <p:spPr>
          <a:xfrm>
            <a:off x="4749701" y="1477119"/>
            <a:ext cx="2698328" cy="221456"/>
          </a:xfrm>
          <a:prstGeom prst="rect">
            <a:avLst/>
          </a:prstGeom>
          <a:noFill/>
          <a:ln/>
        </p:spPr>
        <p:txBody>
          <a:bodyPr wrap="none" lIns="0" tIns="0" rIns="0" bIns="0" rtlCol="0" anchor="t"/>
          <a:lstStyle/>
          <a:p>
            <a:pPr algn="l" indent="0" marL="0">
              <a:lnSpc>
                <a:spcPct val="104000"/>
              </a:lnSpc>
              <a:buNone/>
            </a:pPr>
            <a:r>
              <a:rPr lang="en-US" sz="1350" b="1" dirty="0">
                <a:solidFill>
                  <a:srgbClr val="006747"/>
                </a:solidFill>
                <a:latin typeface="Noto Serif SC Bold" pitchFamily="34" charset="0"/>
                <a:ea typeface="Noto Serif SC Bold" pitchFamily="34" charset="-122"/>
                <a:cs typeface="Noto Serif SC Bold" pitchFamily="34" charset="-120"/>
              </a:rPr>
              <a:t>Top 5 Products by Rating</a:t>
            </a:r>
            <a:endParaRPr lang="en-US" sz="1350" dirty="0"/>
          </a:p>
        </p:txBody>
      </p:sp>
      <p:sp>
        <p:nvSpPr>
          <p:cNvPr id="5" name="Text 2"/>
          <p:cNvSpPr/>
          <p:nvPr/>
        </p:nvSpPr>
        <p:spPr>
          <a:xfrm>
            <a:off x="4749701" y="1840334"/>
            <a:ext cx="3902943"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Gloves lead with a </a:t>
            </a:r>
            <a:pPr algn="l" indent="0" marL="0">
              <a:lnSpc>
                <a:spcPct val="133000"/>
              </a:lnSpc>
              <a:buNone/>
            </a:pPr>
            <a:r>
              <a:rPr lang="en-US" sz="1100" b="1" dirty="0">
                <a:solidFill>
                  <a:srgbClr val="4B4A4A"/>
                </a:solidFill>
                <a:latin typeface="Geist" pitchFamily="34" charset="0"/>
                <a:ea typeface="Geist" pitchFamily="34" charset="-122"/>
                <a:cs typeface="Geist" pitchFamily="34" charset="-120"/>
              </a:rPr>
              <a:t>3.86</a:t>
            </a:r>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 average rating; all top products cluster tightly between 3.78–3.86.</a:t>
            </a:r>
            <a:endParaRPr lang="en-US" sz="1100" dirty="0"/>
          </a:p>
        </p:txBody>
      </p:sp>
      <p:sp>
        <p:nvSpPr>
          <p:cNvPr id="6" name="Shape 3"/>
          <p:cNvSpPr/>
          <p:nvPr/>
        </p:nvSpPr>
        <p:spPr>
          <a:xfrm>
            <a:off x="4749701" y="2488853"/>
            <a:ext cx="3902943" cy="10567"/>
          </a:xfrm>
          <a:prstGeom prst="rect">
            <a:avLst/>
          </a:prstGeom>
          <a:solidFill>
            <a:srgbClr val="4B4A4A">
              <a:alpha val="50000"/>
            </a:srgbClr>
          </a:solidFill>
          <a:ln/>
        </p:spPr>
      </p:sp>
      <p:sp>
        <p:nvSpPr>
          <p:cNvPr id="7" name="Text 4"/>
          <p:cNvSpPr/>
          <p:nvPr/>
        </p:nvSpPr>
        <p:spPr>
          <a:xfrm>
            <a:off x="4749701" y="2694310"/>
            <a:ext cx="2899544" cy="221456"/>
          </a:xfrm>
          <a:prstGeom prst="rect">
            <a:avLst/>
          </a:prstGeom>
          <a:noFill/>
          <a:ln/>
        </p:spPr>
        <p:txBody>
          <a:bodyPr wrap="none" lIns="0" tIns="0" rIns="0" bIns="0" rtlCol="0" anchor="t"/>
          <a:lstStyle/>
          <a:p>
            <a:pPr algn="l" indent="0" marL="0">
              <a:lnSpc>
                <a:spcPct val="104000"/>
              </a:lnSpc>
              <a:buNone/>
            </a:pPr>
            <a:r>
              <a:rPr lang="en-US" sz="1350" b="1" dirty="0">
                <a:solidFill>
                  <a:srgbClr val="006747"/>
                </a:solidFill>
                <a:latin typeface="Noto Serif SC Bold" pitchFamily="34" charset="0"/>
                <a:ea typeface="Noto Serif SC Bold" pitchFamily="34" charset="-122"/>
                <a:cs typeface="Noto Serif SC Bold" pitchFamily="34" charset="-120"/>
              </a:rPr>
              <a:t>Shipping Type Comparison</a:t>
            </a:r>
            <a:endParaRPr lang="en-US" sz="1350" dirty="0"/>
          </a:p>
        </p:txBody>
      </p:sp>
      <p:sp>
        <p:nvSpPr>
          <p:cNvPr id="8" name="Text 5"/>
          <p:cNvSpPr/>
          <p:nvPr/>
        </p:nvSpPr>
        <p:spPr>
          <a:xfrm>
            <a:off x="4749701" y="3057525"/>
            <a:ext cx="3902943"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Express shipping averages </a:t>
            </a:r>
            <a:pPr algn="l" indent="0" marL="0">
              <a:lnSpc>
                <a:spcPct val="133000"/>
              </a:lnSpc>
              <a:buNone/>
            </a:pPr>
            <a:r>
              <a:rPr lang="en-US" sz="1100" b="1" dirty="0">
                <a:solidFill>
                  <a:srgbClr val="4B4A4A"/>
                </a:solidFill>
                <a:latin typeface="Geist" pitchFamily="34" charset="0"/>
                <a:ea typeface="Geist" pitchFamily="34" charset="-122"/>
                <a:cs typeface="Geist" pitchFamily="34" charset="-120"/>
              </a:rPr>
              <a:t>$60.48</a:t>
            </a:r>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 vs. </a:t>
            </a:r>
            <a:pPr algn="l" indent="0" marL="0">
              <a:lnSpc>
                <a:spcPct val="133000"/>
              </a:lnSpc>
              <a:buNone/>
            </a:pPr>
            <a:r>
              <a:rPr lang="en-US" sz="1100" b="1" dirty="0">
                <a:solidFill>
                  <a:srgbClr val="4B4A4A"/>
                </a:solidFill>
                <a:latin typeface="Geist" pitchFamily="34" charset="0"/>
                <a:ea typeface="Geist" pitchFamily="34" charset="-122"/>
                <a:cs typeface="Geist" pitchFamily="34" charset="-120"/>
              </a:rPr>
              <a:t>$58.46</a:t>
            </a:r>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 for Standard — a modest but consistent premium.</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65162" y="384944"/>
            <a:ext cx="5941293" cy="415305"/>
          </a:xfrm>
          <a:prstGeom prst="rect">
            <a:avLst/>
          </a:prstGeom>
          <a:noFill/>
          <a:ln/>
        </p:spPr>
        <p:txBody>
          <a:bodyPr wrap="none" lIns="0" tIns="0" rIns="0" bIns="0" rtlCol="0" anchor="t"/>
          <a:lstStyle/>
          <a:p>
            <a:pPr algn="l" indent="0" marL="0">
              <a:lnSpc>
                <a:spcPct val="104000"/>
              </a:lnSpc>
              <a:buNone/>
            </a:pPr>
            <a:r>
              <a:rPr lang="en-US" sz="2600" b="1" dirty="0">
                <a:solidFill>
                  <a:srgbClr val="006747"/>
                </a:solidFill>
                <a:latin typeface="Noto Serif SC Bold" pitchFamily="34" charset="0"/>
                <a:ea typeface="Noto Serif SC Bold" pitchFamily="34" charset="-122"/>
                <a:cs typeface="Noto Serif SC Bold" pitchFamily="34" charset="-120"/>
              </a:rPr>
              <a:t>Subscribers vs. Non-Subscribers</a:t>
            </a:r>
            <a:endParaRPr lang="en-US" sz="2600" dirty="0"/>
          </a:p>
        </p:txBody>
      </p:sp>
      <p:pic>
        <p:nvPicPr>
          <p:cNvPr id="3" name="Image 0" descr="preencoded.png">    </p:cNvPr>
          <p:cNvPicPr>
            <a:picLocks noChangeAspect="1"/>
          </p:cNvPicPr>
          <p:nvPr/>
        </p:nvPicPr>
        <p:blipFill>
          <a:blip r:embed="rId1"/>
          <a:stretch>
            <a:fillRect/>
          </a:stretch>
        </p:blipFill>
        <p:spPr>
          <a:xfrm>
            <a:off x="465162" y="1127224"/>
            <a:ext cx="3944764" cy="2839417"/>
          </a:xfrm>
          <a:prstGeom prst="rect">
            <a:avLst/>
          </a:prstGeom>
        </p:spPr>
      </p:pic>
      <p:sp>
        <p:nvSpPr>
          <p:cNvPr id="4" name="Text 1"/>
          <p:cNvSpPr/>
          <p:nvPr/>
        </p:nvSpPr>
        <p:spPr>
          <a:xfrm>
            <a:off x="4738836" y="1111672"/>
            <a:ext cx="2118494" cy="207690"/>
          </a:xfrm>
          <a:prstGeom prst="rect">
            <a:avLst/>
          </a:prstGeom>
          <a:noFill/>
          <a:ln/>
        </p:spPr>
        <p:txBody>
          <a:bodyPr wrap="none" lIns="0" tIns="0" rIns="0" bIns="0" rtlCol="0" anchor="t"/>
          <a:lstStyle/>
          <a:p>
            <a:pPr algn="l" indent="0" marL="0">
              <a:lnSpc>
                <a:spcPct val="104000"/>
              </a:lnSpc>
              <a:buNone/>
            </a:pPr>
            <a:r>
              <a:rPr lang="en-US" sz="1300" b="1" dirty="0">
                <a:solidFill>
                  <a:srgbClr val="006747"/>
                </a:solidFill>
                <a:latin typeface="Noto Serif SC Bold" pitchFamily="34" charset="0"/>
                <a:ea typeface="Noto Serif SC Bold" pitchFamily="34" charset="-122"/>
                <a:cs typeface="Noto Serif SC Bold" pitchFamily="34" charset="-120"/>
              </a:rPr>
              <a:t>Key Findings</a:t>
            </a:r>
            <a:endParaRPr lang="en-US" sz="1300" dirty="0"/>
          </a:p>
        </p:txBody>
      </p:sp>
      <p:sp>
        <p:nvSpPr>
          <p:cNvPr id="5" name="Shape 2"/>
          <p:cNvSpPr/>
          <p:nvPr/>
        </p:nvSpPr>
        <p:spPr>
          <a:xfrm>
            <a:off x="4738836" y="1459483"/>
            <a:ext cx="3944764" cy="832619"/>
          </a:xfrm>
          <a:prstGeom prst="roundRect">
            <a:avLst>
              <a:gd name="adj" fmla="val 8237"/>
            </a:avLst>
          </a:prstGeom>
          <a:solidFill>
            <a:srgbClr val="E5F9F2">
              <a:alpha val="95000"/>
            </a:srgbClr>
          </a:solidFill>
          <a:ln w="14288">
            <a:solidFill>
              <a:srgbClr val="B7D5CA"/>
            </a:solidFill>
            <a:prstDash val="solid"/>
          </a:ln>
        </p:spPr>
      </p:sp>
      <p:sp>
        <p:nvSpPr>
          <p:cNvPr id="6" name="Shape 3"/>
          <p:cNvSpPr/>
          <p:nvPr/>
        </p:nvSpPr>
        <p:spPr>
          <a:xfrm>
            <a:off x="4724549" y="1459483"/>
            <a:ext cx="57150" cy="832619"/>
          </a:xfrm>
          <a:prstGeom prst="roundRect">
            <a:avLst>
              <a:gd name="adj" fmla="val 209302"/>
            </a:avLst>
          </a:prstGeom>
          <a:solidFill>
            <a:srgbClr val="006747"/>
          </a:solidFill>
          <a:ln/>
        </p:spPr>
      </p:sp>
      <p:sp>
        <p:nvSpPr>
          <p:cNvPr id="7" name="Text 4"/>
          <p:cNvSpPr/>
          <p:nvPr/>
        </p:nvSpPr>
        <p:spPr>
          <a:xfrm>
            <a:off x="4928890" y="1606674"/>
            <a:ext cx="1816447" cy="207690"/>
          </a:xfrm>
          <a:prstGeom prst="rect">
            <a:avLst/>
          </a:prstGeom>
          <a:noFill/>
          <a:ln/>
        </p:spPr>
        <p:txBody>
          <a:bodyPr wrap="none" lIns="0" tIns="0" rIns="0" bIns="0" rtlCol="0" anchor="t"/>
          <a:lstStyle/>
          <a:p>
            <a:pPr algn="l" indent="0" marL="0">
              <a:lnSpc>
                <a:spcPct val="104000"/>
              </a:lnSpc>
              <a:buNone/>
            </a:pPr>
            <a:r>
              <a:rPr lang="en-US" sz="1300" b="1" dirty="0">
                <a:solidFill>
                  <a:srgbClr val="4B4A4A"/>
                </a:solidFill>
                <a:latin typeface="Noto Serif SC Bold" pitchFamily="34" charset="0"/>
                <a:ea typeface="Noto Serif SC Bold" pitchFamily="34" charset="-122"/>
                <a:cs typeface="Noto Serif SC Bold" pitchFamily="34" charset="-120"/>
              </a:rPr>
              <a:t>73% Non-Subscribers</a:t>
            </a:r>
            <a:endParaRPr lang="en-US" sz="1300" dirty="0"/>
          </a:p>
        </p:txBody>
      </p:sp>
      <p:sp>
        <p:nvSpPr>
          <p:cNvPr id="8" name="Text 5"/>
          <p:cNvSpPr/>
          <p:nvPr/>
        </p:nvSpPr>
        <p:spPr>
          <a:xfrm>
            <a:off x="4928890" y="1938933"/>
            <a:ext cx="3607519" cy="205978"/>
          </a:xfrm>
          <a:prstGeom prst="rect">
            <a:avLst/>
          </a:prstGeom>
          <a:noFill/>
          <a:ln/>
        </p:spPr>
        <p:txBody>
          <a:bodyPr wrap="none" lIns="0" tIns="0" rIns="0" bIns="0" rtlCol="0" anchor="t"/>
          <a:lstStyle/>
          <a:p>
            <a:pPr algn="l" indent="0" marL="0">
              <a:lnSpc>
                <a:spcPct val="129000"/>
              </a:lnSpc>
              <a:buNone/>
            </a:pPr>
            <a:r>
              <a:rPr lang="en-US" sz="1000" dirty="0">
                <a:solidFill>
                  <a:srgbClr val="4B4A4A"/>
                </a:solidFill>
                <a:latin typeface="Geist" pitchFamily="34" charset="0"/>
                <a:ea typeface="Geist" pitchFamily="34" charset="-122"/>
                <a:cs typeface="Geist" pitchFamily="34" charset="-120"/>
              </a:rPr>
              <a:t>2,847 customers, generating </a:t>
            </a:r>
            <a:pPr algn="l" indent="0" marL="0">
              <a:lnSpc>
                <a:spcPct val="129000"/>
              </a:lnSpc>
              <a:buNone/>
            </a:pPr>
            <a:r>
              <a:rPr lang="en-US" sz="1000" b="1" dirty="0">
                <a:solidFill>
                  <a:srgbClr val="4B4A4A"/>
                </a:solidFill>
                <a:latin typeface="Geist" pitchFamily="34" charset="0"/>
                <a:ea typeface="Geist" pitchFamily="34" charset="-122"/>
                <a:cs typeface="Geist" pitchFamily="34" charset="-120"/>
              </a:rPr>
              <a:t>$170,436</a:t>
            </a:r>
            <a:pPr algn="l" indent="0" marL="0">
              <a:lnSpc>
                <a:spcPct val="129000"/>
              </a:lnSpc>
              <a:buNone/>
            </a:pPr>
            <a:r>
              <a:rPr lang="en-US" sz="1000" dirty="0">
                <a:solidFill>
                  <a:srgbClr val="4B4A4A"/>
                </a:solidFill>
                <a:latin typeface="Geist" pitchFamily="34" charset="0"/>
                <a:ea typeface="Geist" pitchFamily="34" charset="-122"/>
                <a:cs typeface="Geist" pitchFamily="34" charset="-120"/>
              </a:rPr>
              <a:t> in total revenue.</a:t>
            </a:r>
            <a:endParaRPr lang="en-US" sz="1000" dirty="0"/>
          </a:p>
        </p:txBody>
      </p:sp>
      <p:sp>
        <p:nvSpPr>
          <p:cNvPr id="9" name="Shape 6"/>
          <p:cNvSpPr/>
          <p:nvPr/>
        </p:nvSpPr>
        <p:spPr>
          <a:xfrm>
            <a:off x="4738836" y="2416671"/>
            <a:ext cx="3944764" cy="1038597"/>
          </a:xfrm>
          <a:prstGeom prst="roundRect">
            <a:avLst>
              <a:gd name="adj" fmla="val 6603"/>
            </a:avLst>
          </a:prstGeom>
          <a:solidFill>
            <a:srgbClr val="E5F9F2">
              <a:alpha val="95000"/>
            </a:srgbClr>
          </a:solidFill>
          <a:ln w="14288">
            <a:solidFill>
              <a:srgbClr val="B7D5CA"/>
            </a:solidFill>
            <a:prstDash val="solid"/>
          </a:ln>
        </p:spPr>
      </p:sp>
      <p:sp>
        <p:nvSpPr>
          <p:cNvPr id="10" name="Shape 7"/>
          <p:cNvSpPr/>
          <p:nvPr/>
        </p:nvSpPr>
        <p:spPr>
          <a:xfrm>
            <a:off x="4724549" y="2416671"/>
            <a:ext cx="57150" cy="1038597"/>
          </a:xfrm>
          <a:prstGeom prst="roundRect">
            <a:avLst>
              <a:gd name="adj" fmla="val 209302"/>
            </a:avLst>
          </a:prstGeom>
          <a:solidFill>
            <a:srgbClr val="006747"/>
          </a:solidFill>
          <a:ln/>
        </p:spPr>
      </p:sp>
      <p:sp>
        <p:nvSpPr>
          <p:cNvPr id="11" name="Text 8"/>
          <p:cNvSpPr/>
          <p:nvPr/>
        </p:nvSpPr>
        <p:spPr>
          <a:xfrm>
            <a:off x="4928890" y="2563862"/>
            <a:ext cx="1661294" cy="207690"/>
          </a:xfrm>
          <a:prstGeom prst="rect">
            <a:avLst/>
          </a:prstGeom>
          <a:noFill/>
          <a:ln/>
        </p:spPr>
        <p:txBody>
          <a:bodyPr wrap="none" lIns="0" tIns="0" rIns="0" bIns="0" rtlCol="0" anchor="t"/>
          <a:lstStyle/>
          <a:p>
            <a:pPr algn="l" indent="0" marL="0">
              <a:lnSpc>
                <a:spcPct val="104000"/>
              </a:lnSpc>
              <a:buNone/>
            </a:pPr>
            <a:r>
              <a:rPr lang="en-US" sz="1300" b="1" dirty="0">
                <a:solidFill>
                  <a:srgbClr val="4B4A4A"/>
                </a:solidFill>
                <a:latin typeface="Noto Serif SC Bold" pitchFamily="34" charset="0"/>
                <a:ea typeface="Noto Serif SC Bold" pitchFamily="34" charset="-122"/>
                <a:cs typeface="Noto Serif SC Bold" pitchFamily="34" charset="-120"/>
              </a:rPr>
              <a:t>27% Subscribers</a:t>
            </a:r>
            <a:endParaRPr lang="en-US" sz="1300" dirty="0"/>
          </a:p>
        </p:txBody>
      </p:sp>
      <p:sp>
        <p:nvSpPr>
          <p:cNvPr id="12" name="Text 9"/>
          <p:cNvSpPr/>
          <p:nvPr/>
        </p:nvSpPr>
        <p:spPr>
          <a:xfrm>
            <a:off x="4928890" y="2896121"/>
            <a:ext cx="3607519" cy="411956"/>
          </a:xfrm>
          <a:prstGeom prst="rect">
            <a:avLst/>
          </a:prstGeom>
          <a:noFill/>
          <a:ln/>
        </p:spPr>
        <p:txBody>
          <a:bodyPr wrap="square" lIns="0" tIns="0" rIns="0" bIns="0" rtlCol="0" anchor="t">
            <a:normAutofit/>
          </a:bodyPr>
          <a:lstStyle/>
          <a:p>
            <a:pPr algn="l" indent="0" marL="0">
              <a:lnSpc>
                <a:spcPct val="129000"/>
              </a:lnSpc>
              <a:buNone/>
            </a:pPr>
            <a:r>
              <a:rPr lang="en-US" sz="1000" dirty="0">
                <a:solidFill>
                  <a:srgbClr val="4B4A4A"/>
                </a:solidFill>
                <a:latin typeface="Geist" pitchFamily="34" charset="0"/>
                <a:ea typeface="Geist" pitchFamily="34" charset="-122"/>
                <a:cs typeface="Geist" pitchFamily="34" charset="-120"/>
              </a:rPr>
              <a:t>1,053 customers, generating </a:t>
            </a:r>
            <a:pPr algn="l" indent="0" marL="0">
              <a:lnSpc>
                <a:spcPct val="129000"/>
              </a:lnSpc>
              <a:buNone/>
            </a:pPr>
            <a:r>
              <a:rPr lang="en-US" sz="1000" b="1" dirty="0">
                <a:solidFill>
                  <a:srgbClr val="4B4A4A"/>
                </a:solidFill>
                <a:latin typeface="Geist" pitchFamily="34" charset="0"/>
                <a:ea typeface="Geist" pitchFamily="34" charset="-122"/>
                <a:cs typeface="Geist" pitchFamily="34" charset="-120"/>
              </a:rPr>
              <a:t>$62,645</a:t>
            </a:r>
            <a:pPr algn="l" indent="0" marL="0">
              <a:lnSpc>
                <a:spcPct val="129000"/>
              </a:lnSpc>
              <a:buNone/>
            </a:pPr>
            <a:r>
              <a:rPr lang="en-US" sz="1000" dirty="0">
                <a:solidFill>
                  <a:srgbClr val="4B4A4A"/>
                </a:solidFill>
                <a:latin typeface="Geist" pitchFamily="34" charset="0"/>
                <a:ea typeface="Geist" pitchFamily="34" charset="-122"/>
                <a:cs typeface="Geist" pitchFamily="34" charset="-120"/>
              </a:rPr>
              <a:t> — significant untapped potential.</a:t>
            </a:r>
            <a:endParaRPr lang="en-US" sz="1000" dirty="0"/>
          </a:p>
        </p:txBody>
      </p:sp>
      <p:sp>
        <p:nvSpPr>
          <p:cNvPr id="13" name="Shape 10"/>
          <p:cNvSpPr/>
          <p:nvPr/>
        </p:nvSpPr>
        <p:spPr>
          <a:xfrm>
            <a:off x="4738836" y="3579837"/>
            <a:ext cx="3944764" cy="1038597"/>
          </a:xfrm>
          <a:prstGeom prst="roundRect">
            <a:avLst>
              <a:gd name="adj" fmla="val 6603"/>
            </a:avLst>
          </a:prstGeom>
          <a:solidFill>
            <a:srgbClr val="E5F9F2">
              <a:alpha val="95000"/>
            </a:srgbClr>
          </a:solidFill>
          <a:ln w="14288">
            <a:solidFill>
              <a:srgbClr val="B7D5CA"/>
            </a:solidFill>
            <a:prstDash val="solid"/>
          </a:ln>
        </p:spPr>
      </p:sp>
      <p:sp>
        <p:nvSpPr>
          <p:cNvPr id="14" name="Shape 11"/>
          <p:cNvSpPr/>
          <p:nvPr/>
        </p:nvSpPr>
        <p:spPr>
          <a:xfrm>
            <a:off x="4724549" y="3579837"/>
            <a:ext cx="57150" cy="1038597"/>
          </a:xfrm>
          <a:prstGeom prst="roundRect">
            <a:avLst>
              <a:gd name="adj" fmla="val 209302"/>
            </a:avLst>
          </a:prstGeom>
          <a:solidFill>
            <a:srgbClr val="006747"/>
          </a:solidFill>
          <a:ln/>
        </p:spPr>
      </p:sp>
      <p:sp>
        <p:nvSpPr>
          <p:cNvPr id="15" name="Text 12"/>
          <p:cNvSpPr/>
          <p:nvPr/>
        </p:nvSpPr>
        <p:spPr>
          <a:xfrm>
            <a:off x="4928890" y="3727028"/>
            <a:ext cx="2133674" cy="207690"/>
          </a:xfrm>
          <a:prstGeom prst="rect">
            <a:avLst/>
          </a:prstGeom>
          <a:noFill/>
          <a:ln/>
        </p:spPr>
        <p:txBody>
          <a:bodyPr wrap="none" lIns="0" tIns="0" rIns="0" bIns="0" rtlCol="0" anchor="t"/>
          <a:lstStyle/>
          <a:p>
            <a:pPr algn="l" indent="0" marL="0">
              <a:lnSpc>
                <a:spcPct val="104000"/>
              </a:lnSpc>
              <a:buNone/>
            </a:pPr>
            <a:r>
              <a:rPr lang="en-US" sz="1300" b="1" dirty="0">
                <a:solidFill>
                  <a:srgbClr val="4B4A4A"/>
                </a:solidFill>
                <a:latin typeface="Noto Serif SC Bold" pitchFamily="34" charset="0"/>
                <a:ea typeface="Noto Serif SC Bold" pitchFamily="34" charset="-122"/>
                <a:cs typeface="Noto Serif SC Bold" pitchFamily="34" charset="-120"/>
              </a:rPr>
              <a:t>Near-Identical Avg Spend</a:t>
            </a:r>
            <a:endParaRPr lang="en-US" sz="1300" dirty="0"/>
          </a:p>
        </p:txBody>
      </p:sp>
      <p:sp>
        <p:nvSpPr>
          <p:cNvPr id="16" name="Text 13"/>
          <p:cNvSpPr/>
          <p:nvPr/>
        </p:nvSpPr>
        <p:spPr>
          <a:xfrm>
            <a:off x="4928890" y="4059287"/>
            <a:ext cx="3607519" cy="411956"/>
          </a:xfrm>
          <a:prstGeom prst="rect">
            <a:avLst/>
          </a:prstGeom>
          <a:noFill/>
          <a:ln/>
        </p:spPr>
        <p:txBody>
          <a:bodyPr wrap="square" lIns="0" tIns="0" rIns="0" bIns="0" rtlCol="0" anchor="t">
            <a:normAutofit/>
          </a:bodyPr>
          <a:lstStyle/>
          <a:p>
            <a:pPr algn="l" indent="0" marL="0">
              <a:lnSpc>
                <a:spcPct val="129000"/>
              </a:lnSpc>
              <a:buNone/>
            </a:pPr>
            <a:r>
              <a:rPr lang="en-US" sz="1000" dirty="0">
                <a:solidFill>
                  <a:srgbClr val="4B4A4A"/>
                </a:solidFill>
                <a:latin typeface="Geist" pitchFamily="34" charset="0"/>
                <a:ea typeface="Geist" pitchFamily="34" charset="-122"/>
                <a:cs typeface="Geist" pitchFamily="34" charset="-120"/>
              </a:rPr>
              <a:t>Avg spend is nearly equal: </a:t>
            </a:r>
            <a:pPr algn="l" indent="0" marL="0">
              <a:lnSpc>
                <a:spcPct val="129000"/>
              </a:lnSpc>
              <a:buNone/>
            </a:pPr>
            <a:r>
              <a:rPr lang="en-US" sz="1000" b="1" dirty="0">
                <a:solidFill>
                  <a:srgbClr val="4B4A4A"/>
                </a:solidFill>
                <a:latin typeface="Geist" pitchFamily="34" charset="0"/>
                <a:ea typeface="Geist" pitchFamily="34" charset="-122"/>
                <a:cs typeface="Geist" pitchFamily="34" charset="-120"/>
              </a:rPr>
              <a:t>$59.87</a:t>
            </a:r>
            <a:pPr algn="l" indent="0" marL="0">
              <a:lnSpc>
                <a:spcPct val="129000"/>
              </a:lnSpc>
              <a:buNone/>
            </a:pPr>
            <a:r>
              <a:rPr lang="en-US" sz="1000" dirty="0">
                <a:solidFill>
                  <a:srgbClr val="4B4A4A"/>
                </a:solidFill>
                <a:latin typeface="Geist" pitchFamily="34" charset="0"/>
                <a:ea typeface="Geist" pitchFamily="34" charset="-122"/>
                <a:cs typeface="Geist" pitchFamily="34" charset="-120"/>
              </a:rPr>
              <a:t> (non-subscribers) vs. </a:t>
            </a:r>
            <a:pPr algn="l" indent="0" marL="0">
              <a:lnSpc>
                <a:spcPct val="129000"/>
              </a:lnSpc>
              <a:buNone/>
            </a:pPr>
            <a:r>
              <a:rPr lang="en-US" sz="1000" b="1" dirty="0">
                <a:solidFill>
                  <a:srgbClr val="4B4A4A"/>
                </a:solidFill>
                <a:latin typeface="Geist" pitchFamily="34" charset="0"/>
                <a:ea typeface="Geist" pitchFamily="34" charset="-122"/>
                <a:cs typeface="Geist" pitchFamily="34" charset="-120"/>
              </a:rPr>
              <a:t>$59.49</a:t>
            </a:r>
            <a:pPr algn="l" indent="0" marL="0">
              <a:lnSpc>
                <a:spcPct val="129000"/>
              </a:lnSpc>
              <a:buNone/>
            </a:pPr>
            <a:r>
              <a:rPr lang="en-US" sz="1000" dirty="0">
                <a:solidFill>
                  <a:srgbClr val="4B4A4A"/>
                </a:solidFill>
                <a:latin typeface="Geist" pitchFamily="34" charset="0"/>
                <a:ea typeface="Geist" pitchFamily="34" charset="-122"/>
                <a:cs typeface="Geist" pitchFamily="34" charset="-120"/>
              </a:rPr>
              <a:t> (subscribers).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26393" y="344016"/>
            <a:ext cx="7988796" cy="380702"/>
          </a:xfrm>
          <a:prstGeom prst="rect">
            <a:avLst/>
          </a:prstGeom>
          <a:noFill/>
          <a:ln/>
        </p:spPr>
        <p:txBody>
          <a:bodyPr wrap="none" lIns="0" tIns="0" rIns="0" bIns="0" rtlCol="0" anchor="t"/>
          <a:lstStyle/>
          <a:p>
            <a:pPr algn="l" indent="0" marL="0">
              <a:lnSpc>
                <a:spcPct val="104000"/>
              </a:lnSpc>
              <a:buNone/>
            </a:pPr>
            <a:r>
              <a:rPr lang="en-US" sz="2350" b="1" dirty="0">
                <a:solidFill>
                  <a:srgbClr val="006747"/>
                </a:solidFill>
                <a:latin typeface="Noto Serif SC Bold" pitchFamily="34" charset="0"/>
                <a:ea typeface="Noto Serif SC Bold" pitchFamily="34" charset="-122"/>
                <a:cs typeface="Noto Serif SC Bold" pitchFamily="34" charset="-120"/>
              </a:rPr>
              <a:t>Discount Dependency &amp; Customer Segmentation</a:t>
            </a:r>
            <a:endParaRPr lang="en-US" sz="2350" dirty="0"/>
          </a:p>
        </p:txBody>
      </p:sp>
      <p:pic>
        <p:nvPicPr>
          <p:cNvPr id="3" name="Image 0" descr="preencoded.png">    </p:cNvPr>
          <p:cNvPicPr>
            <a:picLocks noChangeAspect="1"/>
          </p:cNvPicPr>
          <p:nvPr/>
        </p:nvPicPr>
        <p:blipFill>
          <a:blip r:embed="rId1"/>
          <a:stretch>
            <a:fillRect/>
          </a:stretch>
        </p:blipFill>
        <p:spPr>
          <a:xfrm>
            <a:off x="426393" y="999455"/>
            <a:ext cx="3997003" cy="2876996"/>
          </a:xfrm>
          <a:prstGeom prst="rect">
            <a:avLst/>
          </a:prstGeom>
        </p:spPr>
      </p:pic>
      <p:sp>
        <p:nvSpPr>
          <p:cNvPr id="4" name="Text 1"/>
          <p:cNvSpPr/>
          <p:nvPr/>
        </p:nvSpPr>
        <p:spPr>
          <a:xfrm>
            <a:off x="4725367" y="986358"/>
            <a:ext cx="3206130" cy="190351"/>
          </a:xfrm>
          <a:prstGeom prst="rect">
            <a:avLst/>
          </a:prstGeom>
          <a:noFill/>
          <a:ln/>
        </p:spPr>
        <p:txBody>
          <a:bodyPr wrap="none" lIns="0" tIns="0" rIns="0" bIns="0" rtlCol="0" anchor="t"/>
          <a:lstStyle/>
          <a:p>
            <a:pPr algn="l" indent="0" marL="0">
              <a:lnSpc>
                <a:spcPct val="104000"/>
              </a:lnSpc>
              <a:buNone/>
            </a:pPr>
            <a:r>
              <a:rPr lang="en-US" sz="1150" b="1" dirty="0">
                <a:solidFill>
                  <a:srgbClr val="006747"/>
                </a:solidFill>
                <a:latin typeface="Noto Serif SC Bold" pitchFamily="34" charset="0"/>
                <a:ea typeface="Noto Serif SC Bold" pitchFamily="34" charset="-122"/>
                <a:cs typeface="Noto Serif SC Bold" pitchFamily="34" charset="-120"/>
              </a:rPr>
              <a:t>Most Discount-Dependent Products</a:t>
            </a:r>
            <a:endParaRPr lang="en-US" sz="1150" dirty="0"/>
          </a:p>
        </p:txBody>
      </p:sp>
      <p:sp>
        <p:nvSpPr>
          <p:cNvPr id="5" name="Text 2"/>
          <p:cNvSpPr/>
          <p:nvPr/>
        </p:nvSpPr>
        <p:spPr>
          <a:xfrm>
            <a:off x="4725367" y="1281336"/>
            <a:ext cx="3997003" cy="362396"/>
          </a:xfrm>
          <a:prstGeom prst="rect">
            <a:avLst/>
          </a:prstGeom>
          <a:noFill/>
          <a:ln/>
        </p:spPr>
        <p:txBody>
          <a:bodyPr wrap="square" lIns="0" tIns="0" rIns="0" bIns="0" rtlCol="0" anchor="t">
            <a:normAutofit/>
          </a:bodyPr>
          <a:lstStyle/>
          <a:p>
            <a:pPr algn="l" indent="0" marL="0">
              <a:lnSpc>
                <a:spcPct val="124000"/>
              </a:lnSpc>
              <a:buNone/>
            </a:pPr>
            <a:r>
              <a:rPr lang="en-US" sz="950" dirty="0">
                <a:solidFill>
                  <a:srgbClr val="4B4A4A"/>
                </a:solidFill>
                <a:latin typeface="Geist" pitchFamily="34" charset="0"/>
                <a:ea typeface="Geist" pitchFamily="34" charset="-122"/>
                <a:cs typeface="Geist" pitchFamily="34" charset="-120"/>
              </a:rPr>
              <a:t>Hat leads at </a:t>
            </a:r>
            <a:pPr algn="l" indent="0" marL="0">
              <a:lnSpc>
                <a:spcPct val="124000"/>
              </a:lnSpc>
              <a:buNone/>
            </a:pPr>
            <a:r>
              <a:rPr lang="en-US" sz="950" b="1" dirty="0">
                <a:solidFill>
                  <a:srgbClr val="4B4A4A"/>
                </a:solidFill>
                <a:latin typeface="Geist" pitchFamily="34" charset="0"/>
                <a:ea typeface="Geist" pitchFamily="34" charset="-122"/>
                <a:cs typeface="Geist" pitchFamily="34" charset="-120"/>
              </a:rPr>
              <a:t>50% discount rate</a:t>
            </a:r>
            <a:pPr algn="l" indent="0" marL="0">
              <a:lnSpc>
                <a:spcPct val="124000"/>
              </a:lnSpc>
              <a:buNone/>
            </a:pPr>
            <a:r>
              <a:rPr lang="en-US" sz="950" dirty="0">
                <a:solidFill>
                  <a:srgbClr val="4B4A4A"/>
                </a:solidFill>
                <a:latin typeface="Geist" pitchFamily="34" charset="0"/>
                <a:ea typeface="Geist" pitchFamily="34" charset="-122"/>
                <a:cs typeface="Geist" pitchFamily="34" charset="-120"/>
              </a:rPr>
              <a:t>; all top 5 products show ~47–50% of purchases involve discounts.</a:t>
            </a:r>
            <a:endParaRPr lang="en-US" sz="950" dirty="0"/>
          </a:p>
        </p:txBody>
      </p:sp>
      <p:sp>
        <p:nvSpPr>
          <p:cNvPr id="6" name="Shape 3"/>
          <p:cNvSpPr/>
          <p:nvPr/>
        </p:nvSpPr>
        <p:spPr>
          <a:xfrm>
            <a:off x="4725367" y="1791891"/>
            <a:ext cx="3997003" cy="9079"/>
          </a:xfrm>
          <a:prstGeom prst="rect">
            <a:avLst/>
          </a:prstGeom>
          <a:solidFill>
            <a:srgbClr val="4B4A4A">
              <a:alpha val="50000"/>
            </a:srgbClr>
          </a:solidFill>
          <a:ln/>
        </p:spPr>
      </p:sp>
      <p:sp>
        <p:nvSpPr>
          <p:cNvPr id="7" name="Text 4"/>
          <p:cNvSpPr/>
          <p:nvPr/>
        </p:nvSpPr>
        <p:spPr>
          <a:xfrm>
            <a:off x="4725367" y="1949128"/>
            <a:ext cx="2000324" cy="190351"/>
          </a:xfrm>
          <a:prstGeom prst="rect">
            <a:avLst/>
          </a:prstGeom>
          <a:noFill/>
          <a:ln/>
        </p:spPr>
        <p:txBody>
          <a:bodyPr wrap="none" lIns="0" tIns="0" rIns="0" bIns="0" rtlCol="0" anchor="t"/>
          <a:lstStyle/>
          <a:p>
            <a:pPr algn="l" indent="0" marL="0">
              <a:lnSpc>
                <a:spcPct val="104000"/>
              </a:lnSpc>
              <a:buNone/>
            </a:pPr>
            <a:r>
              <a:rPr lang="en-US" sz="1150" b="1" dirty="0">
                <a:solidFill>
                  <a:srgbClr val="006747"/>
                </a:solidFill>
                <a:latin typeface="Noto Serif SC Bold" pitchFamily="34" charset="0"/>
                <a:ea typeface="Noto Serif SC Bold" pitchFamily="34" charset="-122"/>
                <a:cs typeface="Noto Serif SC Bold" pitchFamily="34" charset="-120"/>
              </a:rPr>
              <a:t>Customer Segments</a:t>
            </a:r>
            <a:endParaRPr lang="en-US" sz="1150" dirty="0"/>
          </a:p>
        </p:txBody>
      </p:sp>
      <p:sp>
        <p:nvSpPr>
          <p:cNvPr id="8" name="Shape 5"/>
          <p:cNvSpPr/>
          <p:nvPr/>
        </p:nvSpPr>
        <p:spPr>
          <a:xfrm>
            <a:off x="426393" y="4111898"/>
            <a:ext cx="2693938" cy="687512"/>
          </a:xfrm>
          <a:prstGeom prst="roundRect">
            <a:avLst>
              <a:gd name="adj" fmla="val 15949"/>
            </a:avLst>
          </a:prstGeom>
          <a:solidFill>
            <a:srgbClr val="D1EFE4"/>
          </a:solidFill>
          <a:ln w="4763">
            <a:solidFill>
              <a:srgbClr val="B7D5CA"/>
            </a:solidFill>
            <a:prstDash val="solid"/>
          </a:ln>
        </p:spPr>
      </p:sp>
      <p:sp>
        <p:nvSpPr>
          <p:cNvPr id="9" name="Text 6"/>
          <p:cNvSpPr/>
          <p:nvPr/>
        </p:nvSpPr>
        <p:spPr>
          <a:xfrm>
            <a:off x="552971" y="4238476"/>
            <a:ext cx="1522884" cy="190351"/>
          </a:xfrm>
          <a:prstGeom prst="rect">
            <a:avLst/>
          </a:prstGeom>
          <a:noFill/>
          <a:ln/>
        </p:spPr>
        <p:txBody>
          <a:bodyPr wrap="none" lIns="0" tIns="0" rIns="0" bIns="0" rtlCol="0" anchor="t"/>
          <a:lstStyle/>
          <a:p>
            <a:pPr algn="l" indent="0" marL="0">
              <a:lnSpc>
                <a:spcPct val="104000"/>
              </a:lnSpc>
              <a:buNone/>
            </a:pPr>
            <a:r>
              <a:rPr lang="en-US" sz="1150" b="1" dirty="0">
                <a:solidFill>
                  <a:srgbClr val="4B4A4A"/>
                </a:solidFill>
                <a:latin typeface="Noto Serif SC Bold" pitchFamily="34" charset="0"/>
                <a:ea typeface="Noto Serif SC Bold" pitchFamily="34" charset="-122"/>
                <a:cs typeface="Noto Serif SC Bold" pitchFamily="34" charset="-120"/>
              </a:rPr>
              <a:t>Loyal</a:t>
            </a:r>
            <a:endParaRPr lang="en-US" sz="1150" dirty="0"/>
          </a:p>
        </p:txBody>
      </p:sp>
      <p:sp>
        <p:nvSpPr>
          <p:cNvPr id="10" name="Text 7"/>
          <p:cNvSpPr/>
          <p:nvPr/>
        </p:nvSpPr>
        <p:spPr>
          <a:xfrm>
            <a:off x="552971" y="4491633"/>
            <a:ext cx="2440781" cy="181198"/>
          </a:xfrm>
          <a:prstGeom prst="rect">
            <a:avLst/>
          </a:prstGeom>
          <a:noFill/>
          <a:ln/>
        </p:spPr>
        <p:txBody>
          <a:bodyPr wrap="none" lIns="0" tIns="0" rIns="0" bIns="0" rtlCol="0" anchor="t"/>
          <a:lstStyle/>
          <a:p>
            <a:pPr algn="l" indent="0" marL="0">
              <a:lnSpc>
                <a:spcPct val="124000"/>
              </a:lnSpc>
              <a:buNone/>
            </a:pPr>
            <a:r>
              <a:rPr lang="en-US" sz="950" dirty="0">
                <a:solidFill>
                  <a:srgbClr val="4B4A4A"/>
                </a:solidFill>
                <a:latin typeface="Geist" pitchFamily="34" charset="0"/>
                <a:ea typeface="Geist" pitchFamily="34" charset="-122"/>
                <a:cs typeface="Geist" pitchFamily="34" charset="-120"/>
              </a:rPr>
              <a:t>3,116 customers</a:t>
            </a:r>
            <a:endParaRPr lang="en-US" sz="950" dirty="0"/>
          </a:p>
        </p:txBody>
      </p:sp>
      <p:sp>
        <p:nvSpPr>
          <p:cNvPr id="11" name="Shape 8"/>
          <p:cNvSpPr/>
          <p:nvPr/>
        </p:nvSpPr>
        <p:spPr>
          <a:xfrm>
            <a:off x="3224957" y="4111898"/>
            <a:ext cx="2694012" cy="687512"/>
          </a:xfrm>
          <a:prstGeom prst="roundRect">
            <a:avLst>
              <a:gd name="adj" fmla="val 15949"/>
            </a:avLst>
          </a:prstGeom>
          <a:solidFill>
            <a:srgbClr val="D1EFE4"/>
          </a:solidFill>
          <a:ln w="4763">
            <a:solidFill>
              <a:srgbClr val="B7D5CA"/>
            </a:solidFill>
            <a:prstDash val="solid"/>
          </a:ln>
        </p:spPr>
      </p:sp>
      <p:sp>
        <p:nvSpPr>
          <p:cNvPr id="12" name="Text 9"/>
          <p:cNvSpPr/>
          <p:nvPr/>
        </p:nvSpPr>
        <p:spPr>
          <a:xfrm>
            <a:off x="3351535" y="4238476"/>
            <a:ext cx="1522884" cy="190351"/>
          </a:xfrm>
          <a:prstGeom prst="rect">
            <a:avLst/>
          </a:prstGeom>
          <a:noFill/>
          <a:ln/>
        </p:spPr>
        <p:txBody>
          <a:bodyPr wrap="none" lIns="0" tIns="0" rIns="0" bIns="0" rtlCol="0" anchor="t"/>
          <a:lstStyle/>
          <a:p>
            <a:pPr algn="l" indent="0" marL="0">
              <a:lnSpc>
                <a:spcPct val="104000"/>
              </a:lnSpc>
              <a:buNone/>
            </a:pPr>
            <a:r>
              <a:rPr lang="en-US" sz="1150" b="1" dirty="0">
                <a:solidFill>
                  <a:srgbClr val="4B4A4A"/>
                </a:solidFill>
                <a:latin typeface="Noto Serif SC Bold" pitchFamily="34" charset="0"/>
                <a:ea typeface="Noto Serif SC Bold" pitchFamily="34" charset="-122"/>
                <a:cs typeface="Noto Serif SC Bold" pitchFamily="34" charset="-120"/>
              </a:rPr>
              <a:t>Returning</a:t>
            </a:r>
            <a:endParaRPr lang="en-US" sz="1150" dirty="0"/>
          </a:p>
        </p:txBody>
      </p:sp>
      <p:sp>
        <p:nvSpPr>
          <p:cNvPr id="13" name="Text 10"/>
          <p:cNvSpPr/>
          <p:nvPr/>
        </p:nvSpPr>
        <p:spPr>
          <a:xfrm>
            <a:off x="3351535" y="4491633"/>
            <a:ext cx="2440856" cy="181198"/>
          </a:xfrm>
          <a:prstGeom prst="rect">
            <a:avLst/>
          </a:prstGeom>
          <a:noFill/>
          <a:ln/>
        </p:spPr>
        <p:txBody>
          <a:bodyPr wrap="none" lIns="0" tIns="0" rIns="0" bIns="0" rtlCol="0" anchor="t"/>
          <a:lstStyle/>
          <a:p>
            <a:pPr algn="l" indent="0" marL="0">
              <a:lnSpc>
                <a:spcPct val="124000"/>
              </a:lnSpc>
              <a:buNone/>
            </a:pPr>
            <a:r>
              <a:rPr lang="en-US" sz="950" dirty="0">
                <a:solidFill>
                  <a:srgbClr val="4B4A4A"/>
                </a:solidFill>
                <a:latin typeface="Geist" pitchFamily="34" charset="0"/>
                <a:ea typeface="Geist" pitchFamily="34" charset="-122"/>
                <a:cs typeface="Geist" pitchFamily="34" charset="-120"/>
              </a:rPr>
              <a:t>701 customers</a:t>
            </a:r>
            <a:endParaRPr lang="en-US" sz="950" dirty="0"/>
          </a:p>
        </p:txBody>
      </p:sp>
      <p:sp>
        <p:nvSpPr>
          <p:cNvPr id="14" name="Shape 11"/>
          <p:cNvSpPr/>
          <p:nvPr/>
        </p:nvSpPr>
        <p:spPr>
          <a:xfrm>
            <a:off x="6023595" y="4111898"/>
            <a:ext cx="2694012" cy="687512"/>
          </a:xfrm>
          <a:prstGeom prst="roundRect">
            <a:avLst>
              <a:gd name="adj" fmla="val 15949"/>
            </a:avLst>
          </a:prstGeom>
          <a:solidFill>
            <a:srgbClr val="D1EFE4"/>
          </a:solidFill>
          <a:ln w="4763">
            <a:solidFill>
              <a:srgbClr val="B7D5CA"/>
            </a:solidFill>
            <a:prstDash val="solid"/>
          </a:ln>
        </p:spPr>
      </p:sp>
      <p:sp>
        <p:nvSpPr>
          <p:cNvPr id="15" name="Text 12"/>
          <p:cNvSpPr/>
          <p:nvPr/>
        </p:nvSpPr>
        <p:spPr>
          <a:xfrm>
            <a:off x="6150173" y="4238476"/>
            <a:ext cx="1522884" cy="190351"/>
          </a:xfrm>
          <a:prstGeom prst="rect">
            <a:avLst/>
          </a:prstGeom>
          <a:noFill/>
          <a:ln/>
        </p:spPr>
        <p:txBody>
          <a:bodyPr wrap="none" lIns="0" tIns="0" rIns="0" bIns="0" rtlCol="0" anchor="t"/>
          <a:lstStyle/>
          <a:p>
            <a:pPr algn="l" indent="0" marL="0">
              <a:lnSpc>
                <a:spcPct val="104000"/>
              </a:lnSpc>
              <a:buNone/>
            </a:pPr>
            <a:r>
              <a:rPr lang="en-US" sz="1150" b="1" dirty="0">
                <a:solidFill>
                  <a:srgbClr val="4B4A4A"/>
                </a:solidFill>
                <a:latin typeface="Noto Serif SC Bold" pitchFamily="34" charset="0"/>
                <a:ea typeface="Noto Serif SC Bold" pitchFamily="34" charset="-122"/>
                <a:cs typeface="Noto Serif SC Bold" pitchFamily="34" charset="-120"/>
              </a:rPr>
              <a:t>New</a:t>
            </a:r>
            <a:endParaRPr lang="en-US" sz="1150" dirty="0"/>
          </a:p>
        </p:txBody>
      </p:sp>
      <p:sp>
        <p:nvSpPr>
          <p:cNvPr id="16" name="Text 13"/>
          <p:cNvSpPr/>
          <p:nvPr/>
        </p:nvSpPr>
        <p:spPr>
          <a:xfrm>
            <a:off x="6150173" y="4491633"/>
            <a:ext cx="2440856" cy="181198"/>
          </a:xfrm>
          <a:prstGeom prst="rect">
            <a:avLst/>
          </a:prstGeom>
          <a:noFill/>
          <a:ln/>
        </p:spPr>
        <p:txBody>
          <a:bodyPr wrap="none" lIns="0" tIns="0" rIns="0" bIns="0" rtlCol="0" anchor="t"/>
          <a:lstStyle/>
          <a:p>
            <a:pPr algn="l" indent="0" marL="0">
              <a:lnSpc>
                <a:spcPct val="124000"/>
              </a:lnSpc>
              <a:buNone/>
            </a:pPr>
            <a:r>
              <a:rPr lang="en-US" sz="950" dirty="0">
                <a:solidFill>
                  <a:srgbClr val="4B4A4A"/>
                </a:solidFill>
                <a:latin typeface="Geist" pitchFamily="34" charset="0"/>
                <a:ea typeface="Geist" pitchFamily="34" charset="-122"/>
                <a:cs typeface="Geist" pitchFamily="34" charset="-120"/>
              </a:rPr>
              <a:t>83 customers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1042318"/>
            <a:ext cx="5069607" cy="442987"/>
          </a:xfrm>
          <a:prstGeom prst="rect">
            <a:avLst/>
          </a:prstGeom>
          <a:noFill/>
          <a:ln/>
        </p:spPr>
        <p:txBody>
          <a:bodyPr wrap="none" lIns="0" tIns="0" rIns="0" bIns="0" rtlCol="0" anchor="t"/>
          <a:lstStyle/>
          <a:p>
            <a:pPr algn="l" indent="0" marL="0">
              <a:lnSpc>
                <a:spcPct val="104000"/>
              </a:lnSpc>
              <a:buNone/>
            </a:pPr>
            <a:r>
              <a:rPr lang="en-US" sz="2750" b="1" dirty="0">
                <a:solidFill>
                  <a:srgbClr val="006747"/>
                </a:solidFill>
                <a:latin typeface="Noto Serif SC Bold" pitchFamily="34" charset="0"/>
                <a:ea typeface="Noto Serif SC Bold" pitchFamily="34" charset="-122"/>
                <a:cs typeface="Noto Serif SC Bold" pitchFamily="34" charset="-120"/>
              </a:rPr>
              <a:t>Top Products by Category</a:t>
            </a:r>
            <a:endParaRPr lang="en-US" sz="2750" dirty="0"/>
          </a:p>
        </p:txBody>
      </p:sp>
      <p:sp>
        <p:nvSpPr>
          <p:cNvPr id="3" name="Text 1"/>
          <p:cNvSpPr/>
          <p:nvPr/>
        </p:nvSpPr>
        <p:spPr>
          <a:xfrm>
            <a:off x="496119" y="1768822"/>
            <a:ext cx="8608963" cy="226814"/>
          </a:xfrm>
          <a:prstGeom prst="rect">
            <a:avLst/>
          </a:prstGeom>
          <a:noFill/>
          <a:ln/>
        </p:spPr>
        <p:txBody>
          <a:bodyPr wrap="none" lIns="0" tIns="0" rIns="0" bIns="0" rtlCol="0" anchor="t"/>
          <a:lstStyle/>
          <a:p>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Most purchased items within each of the four product categories:</a:t>
            </a:r>
            <a:endParaRPr lang="en-US" sz="1100" dirty="0"/>
          </a:p>
        </p:txBody>
      </p:sp>
      <p:pic>
        <p:nvPicPr>
          <p:cNvPr id="4" name="Image 0" descr="preencoded.png">    </p:cNvPr>
          <p:cNvPicPr>
            <a:picLocks noChangeAspect="1"/>
          </p:cNvPicPr>
          <p:nvPr/>
        </p:nvPicPr>
        <p:blipFill>
          <a:blip r:embed="rId1"/>
          <a:stretch>
            <a:fillRect/>
          </a:stretch>
        </p:blipFill>
        <p:spPr>
          <a:xfrm>
            <a:off x="496119" y="2155106"/>
            <a:ext cx="1104900" cy="682823"/>
          </a:xfrm>
          <a:prstGeom prst="rect">
            <a:avLst/>
          </a:prstGeom>
        </p:spPr>
      </p:pic>
      <p:sp>
        <p:nvSpPr>
          <p:cNvPr id="5" name="Text 2"/>
          <p:cNvSpPr/>
          <p:nvPr/>
        </p:nvSpPr>
        <p:spPr>
          <a:xfrm>
            <a:off x="496119" y="3015109"/>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B4A4A"/>
                </a:solidFill>
                <a:latin typeface="Noto Serif SC Bold" pitchFamily="34" charset="0"/>
                <a:ea typeface="Noto Serif SC Bold" pitchFamily="34" charset="-122"/>
                <a:cs typeface="Noto Serif SC Bold" pitchFamily="34" charset="-120"/>
              </a:rPr>
              <a:t>Accessories</a:t>
            </a:r>
            <a:endParaRPr lang="en-US" sz="1350" dirty="0"/>
          </a:p>
        </p:txBody>
      </p:sp>
      <p:sp>
        <p:nvSpPr>
          <p:cNvPr id="6" name="Text 3"/>
          <p:cNvSpPr/>
          <p:nvPr/>
        </p:nvSpPr>
        <p:spPr>
          <a:xfrm>
            <a:off x="496119" y="3321621"/>
            <a:ext cx="1905000" cy="779562"/>
          </a:xfrm>
          <a:prstGeom prst="rect">
            <a:avLst/>
          </a:prstGeom>
          <a:noFill/>
          <a:ln/>
        </p:spPr>
        <p:txBody>
          <a:bodyPr wrap="square" lIns="0" tIns="0" rIns="0" bIns="0" rtlCol="0" anchor="t">
            <a:normAutofit/>
          </a:bodyPr>
          <a:lstStyle/>
          <a:p>
            <a:pPr algn="l" marL="342900" indent="-342900">
              <a:lnSpc>
                <a:spcPct val="133000"/>
              </a:lnSpc>
              <a:buSzPct val="100000"/>
              <a:buFont typeface="+mj-lt"/>
              <a:buAutoNum type="arabicPeriod" startAt="1"/>
            </a:pPr>
            <a:r>
              <a:rPr lang="en-US" sz="1100" dirty="0">
                <a:solidFill>
                  <a:srgbClr val="4B4A4A"/>
                </a:solidFill>
                <a:latin typeface="Geist" pitchFamily="34" charset="0"/>
                <a:ea typeface="Geist" pitchFamily="34" charset="-122"/>
                <a:cs typeface="Geist" pitchFamily="34" charset="-120"/>
              </a:rPr>
              <a:t>Jewelry — 171 orders</a:t>
            </a:r>
            <a:endParaRPr lang="en-US" sz="1100" dirty="0"/>
          </a:p>
          <a:p>
            <a:pPr algn="l" marL="342900" indent="-342900">
              <a:lnSpc>
                <a:spcPct val="133000"/>
              </a:lnSpc>
              <a:buSzPct val="100000"/>
              <a:buFont typeface="+mj-lt"/>
              <a:buAutoNum type="arabicPeriod" startAt="2"/>
            </a:pPr>
            <a:r>
              <a:rPr lang="en-US" sz="1100" dirty="0">
                <a:solidFill>
                  <a:srgbClr val="4B4A4A"/>
                </a:solidFill>
                <a:latin typeface="Geist" pitchFamily="34" charset="0"/>
                <a:ea typeface="Geist" pitchFamily="34" charset="-122"/>
                <a:cs typeface="Geist" pitchFamily="34" charset="-120"/>
              </a:rPr>
              <a:t>Sunglasses — 161 orders</a:t>
            </a:r>
            <a:endParaRPr lang="en-US" sz="1100" dirty="0"/>
          </a:p>
          <a:p>
            <a:pPr algn="l" marL="342900" indent="-342900">
              <a:lnSpc>
                <a:spcPct val="133000"/>
              </a:lnSpc>
              <a:buSzPct val="100000"/>
              <a:buFont typeface="+mj-lt"/>
              <a:buAutoNum type="arabicPeriod" startAt="3"/>
            </a:pPr>
            <a:r>
              <a:rPr lang="en-US" sz="1100" dirty="0">
                <a:solidFill>
                  <a:srgbClr val="4B4A4A"/>
                </a:solidFill>
                <a:latin typeface="Geist" pitchFamily="34" charset="0"/>
                <a:ea typeface="Geist" pitchFamily="34" charset="-122"/>
                <a:cs typeface="Geist" pitchFamily="34" charset="-120"/>
              </a:rPr>
              <a:t>Belt — 161 orders</a:t>
            </a:r>
            <a:endParaRPr lang="en-US" sz="1100" dirty="0"/>
          </a:p>
        </p:txBody>
      </p:sp>
      <p:pic>
        <p:nvPicPr>
          <p:cNvPr id="7" name="Image 1" descr="preencoded.png">    </p:cNvPr>
          <p:cNvPicPr>
            <a:picLocks noChangeAspect="1"/>
          </p:cNvPicPr>
          <p:nvPr/>
        </p:nvPicPr>
        <p:blipFill>
          <a:blip r:embed="rId2"/>
          <a:stretch>
            <a:fillRect/>
          </a:stretch>
        </p:blipFill>
        <p:spPr>
          <a:xfrm>
            <a:off x="2578298" y="2155106"/>
            <a:ext cx="1104900" cy="682823"/>
          </a:xfrm>
          <a:prstGeom prst="rect">
            <a:avLst/>
          </a:prstGeom>
        </p:spPr>
      </p:pic>
      <p:sp>
        <p:nvSpPr>
          <p:cNvPr id="8" name="Text 4"/>
          <p:cNvSpPr/>
          <p:nvPr/>
        </p:nvSpPr>
        <p:spPr>
          <a:xfrm>
            <a:off x="2578298" y="3015109"/>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B4A4A"/>
                </a:solidFill>
                <a:latin typeface="Noto Serif SC Bold" pitchFamily="34" charset="0"/>
                <a:ea typeface="Noto Serif SC Bold" pitchFamily="34" charset="-122"/>
                <a:cs typeface="Noto Serif SC Bold" pitchFamily="34" charset="-120"/>
              </a:rPr>
              <a:t>Clothing</a:t>
            </a:r>
            <a:endParaRPr lang="en-US" sz="1350" dirty="0"/>
          </a:p>
        </p:txBody>
      </p:sp>
      <p:sp>
        <p:nvSpPr>
          <p:cNvPr id="9" name="Text 5"/>
          <p:cNvSpPr/>
          <p:nvPr/>
        </p:nvSpPr>
        <p:spPr>
          <a:xfrm>
            <a:off x="2578298" y="3321621"/>
            <a:ext cx="1905074" cy="779562"/>
          </a:xfrm>
          <a:prstGeom prst="rect">
            <a:avLst/>
          </a:prstGeom>
          <a:noFill/>
          <a:ln/>
        </p:spPr>
        <p:txBody>
          <a:bodyPr wrap="square" lIns="0" tIns="0" rIns="0" bIns="0" rtlCol="0" anchor="t">
            <a:normAutofit/>
          </a:bodyPr>
          <a:lstStyle/>
          <a:p>
            <a:pPr algn="l" marL="342900" indent="-342900">
              <a:lnSpc>
                <a:spcPct val="133000"/>
              </a:lnSpc>
              <a:buSzPct val="100000"/>
              <a:buFont typeface="+mj-lt"/>
              <a:buAutoNum type="arabicPeriod" startAt="1"/>
            </a:pPr>
            <a:r>
              <a:rPr lang="en-US" sz="1100" dirty="0">
                <a:solidFill>
                  <a:srgbClr val="4B4A4A"/>
                </a:solidFill>
                <a:latin typeface="Geist" pitchFamily="34" charset="0"/>
                <a:ea typeface="Geist" pitchFamily="34" charset="-122"/>
                <a:cs typeface="Geist" pitchFamily="34" charset="-120"/>
              </a:rPr>
              <a:t>Blouse — 171 orders</a:t>
            </a:r>
            <a:endParaRPr lang="en-US" sz="1100" dirty="0"/>
          </a:p>
          <a:p>
            <a:pPr algn="l" marL="342900" indent="-342900">
              <a:lnSpc>
                <a:spcPct val="133000"/>
              </a:lnSpc>
              <a:buSzPct val="100000"/>
              <a:buFont typeface="+mj-lt"/>
              <a:buAutoNum type="arabicPeriod" startAt="2"/>
            </a:pPr>
            <a:r>
              <a:rPr lang="en-US" sz="1100" dirty="0">
                <a:solidFill>
                  <a:srgbClr val="4B4A4A"/>
                </a:solidFill>
                <a:latin typeface="Geist" pitchFamily="34" charset="0"/>
                <a:ea typeface="Geist" pitchFamily="34" charset="-122"/>
                <a:cs typeface="Geist" pitchFamily="34" charset="-120"/>
              </a:rPr>
              <a:t>Pants — 171 orders</a:t>
            </a:r>
            <a:endParaRPr lang="en-US" sz="1100" dirty="0"/>
          </a:p>
          <a:p>
            <a:pPr algn="l" marL="342900" indent="-342900">
              <a:lnSpc>
                <a:spcPct val="133000"/>
              </a:lnSpc>
              <a:buSzPct val="100000"/>
              <a:buFont typeface="+mj-lt"/>
              <a:buAutoNum type="arabicPeriod" startAt="3"/>
            </a:pPr>
            <a:r>
              <a:rPr lang="en-US" sz="1100" dirty="0">
                <a:solidFill>
                  <a:srgbClr val="4B4A4A"/>
                </a:solidFill>
                <a:latin typeface="Geist" pitchFamily="34" charset="0"/>
                <a:ea typeface="Geist" pitchFamily="34" charset="-122"/>
                <a:cs typeface="Geist" pitchFamily="34" charset="-120"/>
              </a:rPr>
              <a:t>Shirt — 169 orders</a:t>
            </a:r>
            <a:endParaRPr lang="en-US" sz="1100" dirty="0"/>
          </a:p>
        </p:txBody>
      </p:sp>
      <p:pic>
        <p:nvPicPr>
          <p:cNvPr id="10" name="Image 2" descr="preencoded.png">    </p:cNvPr>
          <p:cNvPicPr>
            <a:picLocks noChangeAspect="1"/>
          </p:cNvPicPr>
          <p:nvPr/>
        </p:nvPicPr>
        <p:blipFill>
          <a:blip r:embed="rId3"/>
          <a:stretch>
            <a:fillRect/>
          </a:stretch>
        </p:blipFill>
        <p:spPr>
          <a:xfrm>
            <a:off x="4660553" y="2155106"/>
            <a:ext cx="1104900" cy="682823"/>
          </a:xfrm>
          <a:prstGeom prst="rect">
            <a:avLst/>
          </a:prstGeom>
        </p:spPr>
      </p:pic>
      <p:sp>
        <p:nvSpPr>
          <p:cNvPr id="11" name="Text 6"/>
          <p:cNvSpPr/>
          <p:nvPr/>
        </p:nvSpPr>
        <p:spPr>
          <a:xfrm>
            <a:off x="4660553" y="3015109"/>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B4A4A"/>
                </a:solidFill>
                <a:latin typeface="Noto Serif SC Bold" pitchFamily="34" charset="0"/>
                <a:ea typeface="Noto Serif SC Bold" pitchFamily="34" charset="-122"/>
                <a:cs typeface="Noto Serif SC Bold" pitchFamily="34" charset="-120"/>
              </a:rPr>
              <a:t>Footwear</a:t>
            </a:r>
            <a:endParaRPr lang="en-US" sz="1350" dirty="0"/>
          </a:p>
        </p:txBody>
      </p:sp>
      <p:sp>
        <p:nvSpPr>
          <p:cNvPr id="12" name="Text 7"/>
          <p:cNvSpPr/>
          <p:nvPr/>
        </p:nvSpPr>
        <p:spPr>
          <a:xfrm>
            <a:off x="4660553" y="3321621"/>
            <a:ext cx="1905074" cy="779562"/>
          </a:xfrm>
          <a:prstGeom prst="rect">
            <a:avLst/>
          </a:prstGeom>
          <a:noFill/>
          <a:ln/>
        </p:spPr>
        <p:txBody>
          <a:bodyPr wrap="square" lIns="0" tIns="0" rIns="0" bIns="0" rtlCol="0" anchor="t">
            <a:normAutofit/>
          </a:bodyPr>
          <a:lstStyle/>
          <a:p>
            <a:pPr algn="l" marL="342900" indent="-342900">
              <a:lnSpc>
                <a:spcPct val="133000"/>
              </a:lnSpc>
              <a:buSzPct val="100000"/>
              <a:buFont typeface="+mj-lt"/>
              <a:buAutoNum type="arabicPeriod" startAt="1"/>
            </a:pPr>
            <a:r>
              <a:rPr lang="en-US" sz="1100" dirty="0">
                <a:solidFill>
                  <a:srgbClr val="4B4A4A"/>
                </a:solidFill>
                <a:latin typeface="Geist" pitchFamily="34" charset="0"/>
                <a:ea typeface="Geist" pitchFamily="34" charset="-122"/>
                <a:cs typeface="Geist" pitchFamily="34" charset="-120"/>
              </a:rPr>
              <a:t>Sandals — 160 orders</a:t>
            </a:r>
            <a:endParaRPr lang="en-US" sz="1100" dirty="0"/>
          </a:p>
          <a:p>
            <a:pPr algn="l" marL="342900" indent="-342900">
              <a:lnSpc>
                <a:spcPct val="133000"/>
              </a:lnSpc>
              <a:buSzPct val="100000"/>
              <a:buFont typeface="+mj-lt"/>
              <a:buAutoNum type="arabicPeriod" startAt="2"/>
            </a:pPr>
            <a:r>
              <a:rPr lang="en-US" sz="1100" dirty="0">
                <a:solidFill>
                  <a:srgbClr val="4B4A4A"/>
                </a:solidFill>
                <a:latin typeface="Geist" pitchFamily="34" charset="0"/>
                <a:ea typeface="Geist" pitchFamily="34" charset="-122"/>
                <a:cs typeface="Geist" pitchFamily="34" charset="-120"/>
              </a:rPr>
              <a:t>Shoes — 150 orders</a:t>
            </a:r>
            <a:endParaRPr lang="en-US" sz="1100" dirty="0"/>
          </a:p>
          <a:p>
            <a:pPr algn="l" marL="342900" indent="-342900">
              <a:lnSpc>
                <a:spcPct val="133000"/>
              </a:lnSpc>
              <a:buSzPct val="100000"/>
              <a:buFont typeface="+mj-lt"/>
              <a:buAutoNum type="arabicPeriod" startAt="3"/>
            </a:pPr>
            <a:r>
              <a:rPr lang="en-US" sz="1100" dirty="0">
                <a:solidFill>
                  <a:srgbClr val="4B4A4A"/>
                </a:solidFill>
                <a:latin typeface="Geist" pitchFamily="34" charset="0"/>
                <a:ea typeface="Geist" pitchFamily="34" charset="-122"/>
                <a:cs typeface="Geist" pitchFamily="34" charset="-120"/>
              </a:rPr>
              <a:t>Sneakers — 145 orders</a:t>
            </a:r>
            <a:endParaRPr lang="en-US" sz="1100" dirty="0"/>
          </a:p>
        </p:txBody>
      </p:sp>
      <p:pic>
        <p:nvPicPr>
          <p:cNvPr id="13" name="Image 3" descr="preencoded.png">    </p:cNvPr>
          <p:cNvPicPr>
            <a:picLocks noChangeAspect="1"/>
          </p:cNvPicPr>
          <p:nvPr/>
        </p:nvPicPr>
        <p:blipFill>
          <a:blip r:embed="rId4"/>
          <a:stretch>
            <a:fillRect/>
          </a:stretch>
        </p:blipFill>
        <p:spPr>
          <a:xfrm>
            <a:off x="6742807" y="2155106"/>
            <a:ext cx="1104900" cy="682823"/>
          </a:xfrm>
          <a:prstGeom prst="rect">
            <a:avLst/>
          </a:prstGeom>
        </p:spPr>
      </p:pic>
      <p:sp>
        <p:nvSpPr>
          <p:cNvPr id="14" name="Text 8"/>
          <p:cNvSpPr/>
          <p:nvPr/>
        </p:nvSpPr>
        <p:spPr>
          <a:xfrm>
            <a:off x="6742807" y="3015109"/>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B4A4A"/>
                </a:solidFill>
                <a:latin typeface="Noto Serif SC Bold" pitchFamily="34" charset="0"/>
                <a:ea typeface="Noto Serif SC Bold" pitchFamily="34" charset="-122"/>
                <a:cs typeface="Noto Serif SC Bold" pitchFamily="34" charset="-120"/>
              </a:rPr>
              <a:t>Outerwear</a:t>
            </a:r>
            <a:endParaRPr lang="en-US" sz="1350" dirty="0"/>
          </a:p>
        </p:txBody>
      </p:sp>
      <p:sp>
        <p:nvSpPr>
          <p:cNvPr id="15" name="Text 9"/>
          <p:cNvSpPr/>
          <p:nvPr/>
        </p:nvSpPr>
        <p:spPr>
          <a:xfrm>
            <a:off x="6742807" y="3321621"/>
            <a:ext cx="1905074" cy="503188"/>
          </a:xfrm>
          <a:prstGeom prst="rect">
            <a:avLst/>
          </a:prstGeom>
          <a:noFill/>
          <a:ln/>
        </p:spPr>
        <p:txBody>
          <a:bodyPr wrap="square" lIns="0" tIns="0" rIns="0" bIns="0" rtlCol="0" anchor="t">
            <a:normAutofit/>
          </a:bodyPr>
          <a:lstStyle/>
          <a:p>
            <a:pPr algn="l" marL="342900" indent="-342900">
              <a:lnSpc>
                <a:spcPct val="133000"/>
              </a:lnSpc>
              <a:buSzPct val="100000"/>
              <a:buFont typeface="+mj-lt"/>
              <a:buAutoNum type="arabicPeriod" startAt="1"/>
            </a:pPr>
            <a:r>
              <a:rPr lang="en-US" sz="1100" dirty="0">
                <a:solidFill>
                  <a:srgbClr val="4B4A4A"/>
                </a:solidFill>
                <a:latin typeface="Geist" pitchFamily="34" charset="0"/>
                <a:ea typeface="Geist" pitchFamily="34" charset="-122"/>
                <a:cs typeface="Geist" pitchFamily="34" charset="-120"/>
              </a:rPr>
              <a:t>Jacket — 163 orders</a:t>
            </a:r>
            <a:endParaRPr lang="en-US" sz="1100" dirty="0"/>
          </a:p>
          <a:p>
            <a:pPr algn="l" marL="342900" indent="-342900">
              <a:lnSpc>
                <a:spcPct val="133000"/>
              </a:lnSpc>
              <a:buSzPct val="100000"/>
              <a:buFont typeface="+mj-lt"/>
              <a:buAutoNum type="arabicPeriod" startAt="2"/>
            </a:pPr>
            <a:r>
              <a:rPr lang="en-US" sz="1100" dirty="0">
                <a:solidFill>
                  <a:srgbClr val="4B4A4A"/>
                </a:solidFill>
                <a:latin typeface="Geist" pitchFamily="34" charset="0"/>
                <a:ea typeface="Geist" pitchFamily="34" charset="-122"/>
                <a:cs typeface="Geist" pitchFamily="34" charset="-120"/>
              </a:rPr>
              <a:t>Coat — 161 orders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591592"/>
            <a:ext cx="4127674" cy="442987"/>
          </a:xfrm>
          <a:prstGeom prst="rect">
            <a:avLst/>
          </a:prstGeom>
          <a:noFill/>
          <a:ln/>
        </p:spPr>
        <p:txBody>
          <a:bodyPr wrap="none" lIns="0" tIns="0" rIns="0" bIns="0" rtlCol="0" anchor="t"/>
          <a:lstStyle/>
          <a:p>
            <a:pPr algn="l" indent="0" marL="0">
              <a:lnSpc>
                <a:spcPct val="104000"/>
              </a:lnSpc>
              <a:buNone/>
            </a:pPr>
            <a:r>
              <a:rPr lang="en-US" sz="2750" b="1" dirty="0">
                <a:solidFill>
                  <a:srgbClr val="006747"/>
                </a:solidFill>
                <a:latin typeface="Noto Serif SC Bold" pitchFamily="34" charset="0"/>
                <a:ea typeface="Noto Serif SC Bold" pitchFamily="34" charset="-122"/>
                <a:cs typeface="Noto Serif SC Bold" pitchFamily="34" charset="-120"/>
              </a:rPr>
              <a:t>Power BI Dashboard</a:t>
            </a:r>
            <a:endParaRPr lang="en-US" sz="2750" dirty="0"/>
          </a:p>
        </p:txBody>
      </p:sp>
      <p:pic>
        <p:nvPicPr>
          <p:cNvPr id="3" name="Image 0" descr="preencoded.png">    </p:cNvPr>
          <p:cNvPicPr>
            <a:picLocks noChangeAspect="1"/>
          </p:cNvPicPr>
          <p:nvPr/>
        </p:nvPicPr>
        <p:blipFill>
          <a:blip r:embed="rId1"/>
          <a:stretch>
            <a:fillRect/>
          </a:stretch>
        </p:blipFill>
        <p:spPr>
          <a:xfrm>
            <a:off x="496119" y="2190304"/>
            <a:ext cx="2628230" cy="1418406"/>
          </a:xfrm>
          <a:prstGeom prst="rect">
            <a:avLst/>
          </a:prstGeom>
        </p:spPr>
      </p:pic>
      <p:sp>
        <p:nvSpPr>
          <p:cNvPr id="4" name="Text 1"/>
          <p:cNvSpPr/>
          <p:nvPr/>
        </p:nvSpPr>
        <p:spPr>
          <a:xfrm>
            <a:off x="3474988" y="1388938"/>
            <a:ext cx="2434084" cy="221456"/>
          </a:xfrm>
          <a:prstGeom prst="rect">
            <a:avLst/>
          </a:prstGeom>
          <a:noFill/>
          <a:ln/>
        </p:spPr>
        <p:txBody>
          <a:bodyPr wrap="none" lIns="0" tIns="0" rIns="0" bIns="0" rtlCol="0" anchor="t"/>
          <a:lstStyle/>
          <a:p>
            <a:pPr algn="l" indent="0" marL="0">
              <a:lnSpc>
                <a:spcPct val="104000"/>
              </a:lnSpc>
              <a:buNone/>
            </a:pPr>
            <a:r>
              <a:rPr lang="en-US" sz="1350" b="1" dirty="0">
                <a:solidFill>
                  <a:srgbClr val="006747"/>
                </a:solidFill>
                <a:latin typeface="Noto Serif SC Bold" pitchFamily="34" charset="0"/>
                <a:ea typeface="Noto Serif SC Bold" pitchFamily="34" charset="-122"/>
                <a:cs typeface="Noto Serif SC Bold" pitchFamily="34" charset="-120"/>
              </a:rPr>
              <a:t>Dashboard Highlights</a:t>
            </a:r>
            <a:endParaRPr lang="en-US" sz="135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28120" y="1776933"/>
            <a:ext cx="212601" cy="212601"/>
          </a:xfrm>
          <a:prstGeom prst="rect">
            <a:avLst/>
          </a:prstGeom>
        </p:spPr>
      </p:pic>
      <p:sp>
        <p:nvSpPr>
          <p:cNvPr id="6" name="Text 2"/>
          <p:cNvSpPr/>
          <p:nvPr/>
        </p:nvSpPr>
        <p:spPr>
          <a:xfrm>
            <a:off x="3935685" y="1769864"/>
            <a:ext cx="4716884" cy="226814"/>
          </a:xfrm>
          <a:prstGeom prst="rect">
            <a:avLst/>
          </a:prstGeom>
          <a:noFill/>
          <a:ln/>
        </p:spPr>
        <p:txBody>
          <a:bodyPr wrap="none" lIns="0" tIns="0" rIns="0" bIns="0" rtlCol="0" anchor="t"/>
          <a:lstStyle/>
          <a:p>
            <a:pPr algn="l" indent="0" marL="0">
              <a:lnSpc>
                <a:spcPct val="133000"/>
              </a:lnSpc>
              <a:buNone/>
            </a:pPr>
            <a:r>
              <a:rPr lang="en-US" sz="1100" b="1" dirty="0">
                <a:solidFill>
                  <a:srgbClr val="4B4A4A"/>
                </a:solidFill>
                <a:latin typeface="Geist" pitchFamily="34" charset="0"/>
                <a:ea typeface="Geist" pitchFamily="34" charset="-122"/>
                <a:cs typeface="Geist" pitchFamily="34" charset="-120"/>
              </a:rPr>
              <a:t>Key Metrics:</a:t>
            </a:r>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 3.9K customers · $59.76 avg purchase · 3.75 avg rating</a:t>
            </a:r>
            <a:endParaRPr lang="en-US" sz="11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28120" y="2492797"/>
            <a:ext cx="212601" cy="212601"/>
          </a:xfrm>
          <a:prstGeom prst="rect">
            <a:avLst/>
          </a:prstGeom>
        </p:spPr>
      </p:pic>
      <p:sp>
        <p:nvSpPr>
          <p:cNvPr id="8" name="Text 3"/>
          <p:cNvSpPr/>
          <p:nvPr/>
        </p:nvSpPr>
        <p:spPr>
          <a:xfrm>
            <a:off x="3935685" y="2485727"/>
            <a:ext cx="4716884" cy="453628"/>
          </a:xfrm>
          <a:prstGeom prst="rect">
            <a:avLst/>
          </a:prstGeom>
          <a:noFill/>
          <a:ln/>
        </p:spPr>
        <p:txBody>
          <a:bodyPr wrap="square" lIns="0" tIns="0" rIns="0" bIns="0" rtlCol="0" anchor="t">
            <a:normAutofit/>
          </a:bodyPr>
          <a:lstStyle/>
          <a:p>
            <a:pPr algn="l" indent="0" marL="0">
              <a:lnSpc>
                <a:spcPct val="133000"/>
              </a:lnSpc>
              <a:buNone/>
            </a:pPr>
            <a:r>
              <a:rPr lang="en-US" sz="1100" b="1" dirty="0">
                <a:solidFill>
                  <a:srgbClr val="4B4A4A"/>
                </a:solidFill>
                <a:latin typeface="Geist" pitchFamily="34" charset="0"/>
                <a:ea typeface="Geist" pitchFamily="34" charset="-122"/>
                <a:cs typeface="Geist" pitchFamily="34" charset="-120"/>
              </a:rPr>
              <a:t>Subscription Breakdown:</a:t>
            </a:r>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 Donut chart — 27% subscribers, 73% non-subscribers</a:t>
            </a:r>
            <a:endParaRPr lang="en-US" sz="1100" dirty="0"/>
          </a:p>
        </p:txBody>
      </p:sp>
      <p:pic>
        <p:nvPicPr>
          <p:cNvPr id="9"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528120" y="3229942"/>
            <a:ext cx="212601" cy="212601"/>
          </a:xfrm>
          <a:prstGeom prst="rect">
            <a:avLst/>
          </a:prstGeom>
        </p:spPr>
      </p:pic>
      <p:sp>
        <p:nvSpPr>
          <p:cNvPr id="10" name="Text 4"/>
          <p:cNvSpPr/>
          <p:nvPr/>
        </p:nvSpPr>
        <p:spPr>
          <a:xfrm>
            <a:off x="3935685" y="3222873"/>
            <a:ext cx="4716884" cy="453628"/>
          </a:xfrm>
          <a:prstGeom prst="rect">
            <a:avLst/>
          </a:prstGeom>
          <a:noFill/>
          <a:ln/>
        </p:spPr>
        <p:txBody>
          <a:bodyPr wrap="square" lIns="0" tIns="0" rIns="0" bIns="0" rtlCol="0" anchor="t">
            <a:normAutofit/>
          </a:bodyPr>
          <a:lstStyle/>
          <a:p>
            <a:pPr algn="l" indent="0" marL="0">
              <a:lnSpc>
                <a:spcPct val="133000"/>
              </a:lnSpc>
              <a:buNone/>
            </a:pPr>
            <a:r>
              <a:rPr lang="en-US" sz="1100" b="1" dirty="0">
                <a:solidFill>
                  <a:srgbClr val="4B4A4A"/>
                </a:solidFill>
                <a:latin typeface="Geist" pitchFamily="34" charset="0"/>
                <a:ea typeface="Geist" pitchFamily="34" charset="-122"/>
                <a:cs typeface="Geist" pitchFamily="34" charset="-120"/>
              </a:rPr>
              <a:t>Revenue &amp; Sales by Category:</a:t>
            </a:r>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 Bar charts for Clothing, Accessories, Footwear, Outerwear</a:t>
            </a:r>
            <a:endParaRPr lang="en-US" sz="1100" dirty="0"/>
          </a:p>
        </p:txBody>
      </p:sp>
      <p:pic>
        <p:nvPicPr>
          <p:cNvPr id="11"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528120" y="3967088"/>
            <a:ext cx="212601" cy="212601"/>
          </a:xfrm>
          <a:prstGeom prst="rect">
            <a:avLst/>
          </a:prstGeom>
        </p:spPr>
      </p:pic>
      <p:sp>
        <p:nvSpPr>
          <p:cNvPr id="12" name="Text 5"/>
          <p:cNvSpPr/>
          <p:nvPr/>
        </p:nvSpPr>
        <p:spPr>
          <a:xfrm>
            <a:off x="3935685" y="3960019"/>
            <a:ext cx="4716884" cy="226814"/>
          </a:xfrm>
          <a:prstGeom prst="rect">
            <a:avLst/>
          </a:prstGeom>
          <a:noFill/>
          <a:ln/>
        </p:spPr>
        <p:txBody>
          <a:bodyPr wrap="none" lIns="0" tIns="0" rIns="0" bIns="0" rtlCol="0" anchor="t"/>
          <a:lstStyle/>
          <a:p>
            <a:pPr algn="l" indent="0" marL="0">
              <a:lnSpc>
                <a:spcPct val="133000"/>
              </a:lnSpc>
              <a:buNone/>
            </a:pPr>
            <a:r>
              <a:rPr lang="en-US" sz="1100" b="1" dirty="0">
                <a:solidFill>
                  <a:srgbClr val="4B4A4A"/>
                </a:solidFill>
                <a:latin typeface="Geist" pitchFamily="34" charset="0"/>
                <a:ea typeface="Geist" pitchFamily="34" charset="-122"/>
                <a:cs typeface="Geist" pitchFamily="34" charset="-120"/>
              </a:rPr>
              <a:t>Revenue by Age Group:</a:t>
            </a:r>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 Horizontal bars — Young Adult leads at $62,143</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403994"/>
            <a:ext cx="5517133" cy="442987"/>
          </a:xfrm>
          <a:prstGeom prst="rect">
            <a:avLst/>
          </a:prstGeom>
          <a:noFill/>
          <a:ln/>
        </p:spPr>
        <p:txBody>
          <a:bodyPr wrap="none" lIns="0" tIns="0" rIns="0" bIns="0" rtlCol="0" anchor="t"/>
          <a:lstStyle/>
          <a:p>
            <a:pPr algn="l" indent="0" marL="0">
              <a:lnSpc>
                <a:spcPct val="104000"/>
              </a:lnSpc>
              <a:buNone/>
            </a:pPr>
            <a:r>
              <a:rPr lang="en-US" sz="2750" b="1" dirty="0">
                <a:solidFill>
                  <a:srgbClr val="006747"/>
                </a:solidFill>
                <a:latin typeface="Noto Serif SC Bold" pitchFamily="34" charset="0"/>
                <a:ea typeface="Noto Serif SC Bold" pitchFamily="34" charset="-122"/>
                <a:cs typeface="Noto Serif SC Bold" pitchFamily="34" charset="-120"/>
              </a:rPr>
              <a:t>Business Recommendations</a:t>
            </a:r>
            <a:endParaRPr lang="en-US" sz="2750" dirty="0"/>
          </a:p>
        </p:txBody>
      </p:sp>
      <p:sp>
        <p:nvSpPr>
          <p:cNvPr id="3" name="Shape 1"/>
          <p:cNvSpPr/>
          <p:nvPr/>
        </p:nvSpPr>
        <p:spPr>
          <a:xfrm>
            <a:off x="496119" y="1130498"/>
            <a:ext cx="2622724" cy="1847031"/>
          </a:xfrm>
          <a:prstGeom prst="roundRect">
            <a:avLst>
              <a:gd name="adj" fmla="val 6908"/>
            </a:avLst>
          </a:prstGeom>
          <a:solidFill>
            <a:srgbClr val="D1EFE4"/>
          </a:solidFill>
          <a:ln w="4763">
            <a:solidFill>
              <a:srgbClr val="B7D5CA"/>
            </a:solidFill>
            <a:prstDash val="solid"/>
          </a:ln>
        </p:spPr>
      </p:sp>
      <p:sp>
        <p:nvSpPr>
          <p:cNvPr id="4" name="Shape 2"/>
          <p:cNvSpPr/>
          <p:nvPr/>
        </p:nvSpPr>
        <p:spPr>
          <a:xfrm>
            <a:off x="642640" y="1277020"/>
            <a:ext cx="425276" cy="425276"/>
          </a:xfrm>
          <a:prstGeom prst="roundRect">
            <a:avLst>
              <a:gd name="adj" fmla="val 13436988"/>
            </a:avLst>
          </a:prstGeom>
          <a:solidFill>
            <a:srgbClr val="006747"/>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9619" y="1393924"/>
            <a:ext cx="191319" cy="191319"/>
          </a:xfrm>
          <a:prstGeom prst="rect">
            <a:avLst/>
          </a:prstGeom>
        </p:spPr>
      </p:pic>
      <p:sp>
        <p:nvSpPr>
          <p:cNvPr id="6" name="Text 3"/>
          <p:cNvSpPr/>
          <p:nvPr/>
        </p:nvSpPr>
        <p:spPr>
          <a:xfrm>
            <a:off x="642640" y="1844055"/>
            <a:ext cx="1800820" cy="221456"/>
          </a:xfrm>
          <a:prstGeom prst="rect">
            <a:avLst/>
          </a:prstGeom>
          <a:noFill/>
          <a:ln/>
        </p:spPr>
        <p:txBody>
          <a:bodyPr wrap="none" lIns="0" tIns="0" rIns="0" bIns="0" rtlCol="0" anchor="t"/>
          <a:lstStyle/>
          <a:p>
            <a:pPr algn="l" indent="0" marL="0">
              <a:lnSpc>
                <a:spcPct val="104000"/>
              </a:lnSpc>
              <a:buNone/>
            </a:pPr>
            <a:r>
              <a:rPr lang="en-US" sz="1350" b="1" dirty="0">
                <a:solidFill>
                  <a:srgbClr val="4B4A4A"/>
                </a:solidFill>
                <a:latin typeface="Noto Serif SC Bold" pitchFamily="34" charset="0"/>
                <a:ea typeface="Noto Serif SC Bold" pitchFamily="34" charset="-122"/>
                <a:cs typeface="Noto Serif SC Bold" pitchFamily="34" charset="-120"/>
              </a:rPr>
              <a:t>Boost Subscriptions</a:t>
            </a:r>
            <a:endParaRPr lang="en-US" sz="1350" dirty="0"/>
          </a:p>
        </p:txBody>
      </p:sp>
      <p:sp>
        <p:nvSpPr>
          <p:cNvPr id="7" name="Text 4"/>
          <p:cNvSpPr/>
          <p:nvPr/>
        </p:nvSpPr>
        <p:spPr>
          <a:xfrm>
            <a:off x="642640" y="2150566"/>
            <a:ext cx="2329681"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Promote exclusive subscriber benefits to convert the 73% non-subscriber base.</a:t>
            </a:r>
            <a:endParaRPr lang="en-US" sz="1100" dirty="0"/>
          </a:p>
        </p:txBody>
      </p:sp>
      <p:sp>
        <p:nvSpPr>
          <p:cNvPr id="8" name="Shape 5"/>
          <p:cNvSpPr/>
          <p:nvPr/>
        </p:nvSpPr>
        <p:spPr>
          <a:xfrm>
            <a:off x="3260601" y="1130498"/>
            <a:ext cx="2622724" cy="1847031"/>
          </a:xfrm>
          <a:prstGeom prst="roundRect">
            <a:avLst>
              <a:gd name="adj" fmla="val 6908"/>
            </a:avLst>
          </a:prstGeom>
          <a:solidFill>
            <a:srgbClr val="D1EFE4"/>
          </a:solidFill>
          <a:ln w="4763">
            <a:solidFill>
              <a:srgbClr val="B7D5CA"/>
            </a:solidFill>
            <a:prstDash val="solid"/>
          </a:ln>
        </p:spPr>
      </p:sp>
      <p:sp>
        <p:nvSpPr>
          <p:cNvPr id="9" name="Shape 6"/>
          <p:cNvSpPr/>
          <p:nvPr/>
        </p:nvSpPr>
        <p:spPr>
          <a:xfrm>
            <a:off x="3407122" y="1277020"/>
            <a:ext cx="425276" cy="425276"/>
          </a:xfrm>
          <a:prstGeom prst="roundRect">
            <a:avLst>
              <a:gd name="adj" fmla="val 13436988"/>
            </a:avLst>
          </a:prstGeom>
          <a:solidFill>
            <a:srgbClr val="006747"/>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24101" y="1393924"/>
            <a:ext cx="191319" cy="191319"/>
          </a:xfrm>
          <a:prstGeom prst="rect">
            <a:avLst/>
          </a:prstGeom>
        </p:spPr>
      </p:pic>
      <p:sp>
        <p:nvSpPr>
          <p:cNvPr id="11" name="Text 7"/>
          <p:cNvSpPr/>
          <p:nvPr/>
        </p:nvSpPr>
        <p:spPr>
          <a:xfrm>
            <a:off x="3407122" y="1844055"/>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B4A4A"/>
                </a:solidFill>
                <a:latin typeface="Noto Serif SC Bold" pitchFamily="34" charset="0"/>
                <a:ea typeface="Noto Serif SC Bold" pitchFamily="34" charset="-122"/>
                <a:cs typeface="Noto Serif SC Bold" pitchFamily="34" charset="-120"/>
              </a:rPr>
              <a:t>Loyalty Programs</a:t>
            </a:r>
            <a:endParaRPr lang="en-US" sz="1350" dirty="0"/>
          </a:p>
        </p:txBody>
      </p:sp>
      <p:sp>
        <p:nvSpPr>
          <p:cNvPr id="12" name="Text 8"/>
          <p:cNvSpPr/>
          <p:nvPr/>
        </p:nvSpPr>
        <p:spPr>
          <a:xfrm>
            <a:off x="3407122" y="2150566"/>
            <a:ext cx="2329681"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Reward repeat buyers to grow the Loyal segment (currently 3,116 customers).</a:t>
            </a:r>
            <a:endParaRPr lang="en-US" sz="1100" dirty="0"/>
          </a:p>
        </p:txBody>
      </p:sp>
      <p:sp>
        <p:nvSpPr>
          <p:cNvPr id="13" name="Shape 9"/>
          <p:cNvSpPr/>
          <p:nvPr/>
        </p:nvSpPr>
        <p:spPr>
          <a:xfrm>
            <a:off x="6025083" y="1130498"/>
            <a:ext cx="2622724" cy="1847031"/>
          </a:xfrm>
          <a:prstGeom prst="roundRect">
            <a:avLst>
              <a:gd name="adj" fmla="val 6908"/>
            </a:avLst>
          </a:prstGeom>
          <a:solidFill>
            <a:srgbClr val="D1EFE4"/>
          </a:solidFill>
          <a:ln w="4763">
            <a:solidFill>
              <a:srgbClr val="B7D5CA"/>
            </a:solidFill>
            <a:prstDash val="solid"/>
          </a:ln>
        </p:spPr>
      </p:sp>
      <p:sp>
        <p:nvSpPr>
          <p:cNvPr id="14" name="Shape 10"/>
          <p:cNvSpPr/>
          <p:nvPr/>
        </p:nvSpPr>
        <p:spPr>
          <a:xfrm>
            <a:off x="6171605" y="1277020"/>
            <a:ext cx="425276" cy="425276"/>
          </a:xfrm>
          <a:prstGeom prst="roundRect">
            <a:avLst>
              <a:gd name="adj" fmla="val 13436988"/>
            </a:avLst>
          </a:prstGeom>
          <a:solidFill>
            <a:srgbClr val="006747"/>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88584" y="1393924"/>
            <a:ext cx="191319" cy="191319"/>
          </a:xfrm>
          <a:prstGeom prst="rect">
            <a:avLst/>
          </a:prstGeom>
        </p:spPr>
      </p:pic>
      <p:sp>
        <p:nvSpPr>
          <p:cNvPr id="16" name="Text 11"/>
          <p:cNvSpPr/>
          <p:nvPr/>
        </p:nvSpPr>
        <p:spPr>
          <a:xfrm>
            <a:off x="6171605" y="1844055"/>
            <a:ext cx="2101900" cy="221456"/>
          </a:xfrm>
          <a:prstGeom prst="rect">
            <a:avLst/>
          </a:prstGeom>
          <a:noFill/>
          <a:ln/>
        </p:spPr>
        <p:txBody>
          <a:bodyPr wrap="none" lIns="0" tIns="0" rIns="0" bIns="0" rtlCol="0" anchor="t"/>
          <a:lstStyle/>
          <a:p>
            <a:pPr algn="l" indent="0" marL="0">
              <a:lnSpc>
                <a:spcPct val="104000"/>
              </a:lnSpc>
              <a:buNone/>
            </a:pPr>
            <a:r>
              <a:rPr lang="en-US" sz="1350" b="1" dirty="0">
                <a:solidFill>
                  <a:srgbClr val="4B4A4A"/>
                </a:solidFill>
                <a:latin typeface="Noto Serif SC Bold" pitchFamily="34" charset="0"/>
                <a:ea typeface="Noto Serif SC Bold" pitchFamily="34" charset="-122"/>
                <a:cs typeface="Noto Serif SC Bold" pitchFamily="34" charset="-120"/>
              </a:rPr>
              <a:t>Review Discount Policy</a:t>
            </a:r>
            <a:endParaRPr lang="en-US" sz="1350" dirty="0"/>
          </a:p>
        </p:txBody>
      </p:sp>
      <p:sp>
        <p:nvSpPr>
          <p:cNvPr id="17" name="Text 12"/>
          <p:cNvSpPr/>
          <p:nvPr/>
        </p:nvSpPr>
        <p:spPr>
          <a:xfrm>
            <a:off x="6171605" y="2150566"/>
            <a:ext cx="2329681"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Balance sales boosts with margin control — ~50% of top products are discount-dependent.</a:t>
            </a:r>
            <a:endParaRPr lang="en-US" sz="1100" dirty="0"/>
          </a:p>
        </p:txBody>
      </p:sp>
      <p:sp>
        <p:nvSpPr>
          <p:cNvPr id="18" name="Shape 13"/>
          <p:cNvSpPr/>
          <p:nvPr/>
        </p:nvSpPr>
        <p:spPr>
          <a:xfrm>
            <a:off x="496119" y="3119289"/>
            <a:ext cx="4004965" cy="1620217"/>
          </a:xfrm>
          <a:prstGeom prst="roundRect">
            <a:avLst>
              <a:gd name="adj" fmla="val 7875"/>
            </a:avLst>
          </a:prstGeom>
          <a:solidFill>
            <a:srgbClr val="D1EFE4"/>
          </a:solidFill>
          <a:ln w="4763">
            <a:solidFill>
              <a:srgbClr val="B7D5CA"/>
            </a:solidFill>
            <a:prstDash val="solid"/>
          </a:ln>
        </p:spPr>
      </p:sp>
      <p:sp>
        <p:nvSpPr>
          <p:cNvPr id="19" name="Shape 14"/>
          <p:cNvSpPr/>
          <p:nvPr/>
        </p:nvSpPr>
        <p:spPr>
          <a:xfrm>
            <a:off x="642640" y="3265810"/>
            <a:ext cx="425276" cy="425276"/>
          </a:xfrm>
          <a:prstGeom prst="roundRect">
            <a:avLst>
              <a:gd name="adj" fmla="val 13436988"/>
            </a:avLst>
          </a:prstGeom>
          <a:solidFill>
            <a:srgbClr val="006747"/>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9619" y="3382714"/>
            <a:ext cx="191319" cy="191319"/>
          </a:xfrm>
          <a:prstGeom prst="rect">
            <a:avLst/>
          </a:prstGeom>
        </p:spPr>
      </p:pic>
      <p:sp>
        <p:nvSpPr>
          <p:cNvPr id="21" name="Text 15"/>
          <p:cNvSpPr/>
          <p:nvPr/>
        </p:nvSpPr>
        <p:spPr>
          <a:xfrm>
            <a:off x="642640" y="3832845"/>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4B4A4A"/>
                </a:solidFill>
                <a:latin typeface="Noto Serif SC Bold" pitchFamily="34" charset="0"/>
                <a:ea typeface="Noto Serif SC Bold" pitchFamily="34" charset="-122"/>
                <a:cs typeface="Noto Serif SC Bold" pitchFamily="34" charset="-120"/>
              </a:rPr>
              <a:t>Targeted Marketing</a:t>
            </a:r>
            <a:endParaRPr lang="en-US" sz="1350" dirty="0"/>
          </a:p>
        </p:txBody>
      </p:sp>
      <p:sp>
        <p:nvSpPr>
          <p:cNvPr id="22" name="Text 16"/>
          <p:cNvSpPr/>
          <p:nvPr/>
        </p:nvSpPr>
        <p:spPr>
          <a:xfrm>
            <a:off x="642640" y="4139357"/>
            <a:ext cx="3711922"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Focus on high-revenue age groups (Young Adults) and express-shipping users.</a:t>
            </a:r>
            <a:endParaRPr lang="en-US" sz="1100" dirty="0"/>
          </a:p>
        </p:txBody>
      </p:sp>
      <p:sp>
        <p:nvSpPr>
          <p:cNvPr id="23" name="Shape 17"/>
          <p:cNvSpPr/>
          <p:nvPr/>
        </p:nvSpPr>
        <p:spPr>
          <a:xfrm>
            <a:off x="4642842" y="3119289"/>
            <a:ext cx="4004965" cy="1620217"/>
          </a:xfrm>
          <a:prstGeom prst="roundRect">
            <a:avLst>
              <a:gd name="adj" fmla="val 7875"/>
            </a:avLst>
          </a:prstGeom>
          <a:solidFill>
            <a:srgbClr val="D1EFE4"/>
          </a:solidFill>
          <a:ln w="4763">
            <a:solidFill>
              <a:srgbClr val="B7D5CA"/>
            </a:solidFill>
            <a:prstDash val="solid"/>
          </a:ln>
        </p:spPr>
      </p:sp>
      <p:sp>
        <p:nvSpPr>
          <p:cNvPr id="24" name="Shape 18"/>
          <p:cNvSpPr/>
          <p:nvPr/>
        </p:nvSpPr>
        <p:spPr>
          <a:xfrm>
            <a:off x="4789363" y="3265810"/>
            <a:ext cx="425276" cy="425276"/>
          </a:xfrm>
          <a:prstGeom prst="roundRect">
            <a:avLst>
              <a:gd name="adj" fmla="val 13436988"/>
            </a:avLst>
          </a:prstGeom>
          <a:solidFill>
            <a:srgbClr val="006747"/>
          </a:solidFill>
          <a:ln/>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906342" y="3382714"/>
            <a:ext cx="191319" cy="191319"/>
          </a:xfrm>
          <a:prstGeom prst="rect">
            <a:avLst/>
          </a:prstGeom>
        </p:spPr>
      </p:pic>
      <p:sp>
        <p:nvSpPr>
          <p:cNvPr id="26" name="Text 19"/>
          <p:cNvSpPr/>
          <p:nvPr/>
        </p:nvSpPr>
        <p:spPr>
          <a:xfrm>
            <a:off x="4789363" y="3832845"/>
            <a:ext cx="1791072" cy="221456"/>
          </a:xfrm>
          <a:prstGeom prst="rect">
            <a:avLst/>
          </a:prstGeom>
          <a:noFill/>
          <a:ln/>
        </p:spPr>
        <p:txBody>
          <a:bodyPr wrap="none" lIns="0" tIns="0" rIns="0" bIns="0" rtlCol="0" anchor="t"/>
          <a:lstStyle/>
          <a:p>
            <a:pPr algn="l" indent="0" marL="0">
              <a:lnSpc>
                <a:spcPct val="104000"/>
              </a:lnSpc>
              <a:buNone/>
            </a:pPr>
            <a:r>
              <a:rPr lang="en-US" sz="1350" b="1" dirty="0">
                <a:solidFill>
                  <a:srgbClr val="4B4A4A"/>
                </a:solidFill>
                <a:latin typeface="Noto Serif SC Bold" pitchFamily="34" charset="0"/>
                <a:ea typeface="Noto Serif SC Bold" pitchFamily="34" charset="-122"/>
                <a:cs typeface="Noto Serif SC Bold" pitchFamily="34" charset="-120"/>
              </a:rPr>
              <a:t>Product Positioning</a:t>
            </a:r>
            <a:endParaRPr lang="en-US" sz="1350" dirty="0"/>
          </a:p>
        </p:txBody>
      </p:sp>
      <p:sp>
        <p:nvSpPr>
          <p:cNvPr id="27" name="Text 20"/>
          <p:cNvSpPr/>
          <p:nvPr/>
        </p:nvSpPr>
        <p:spPr>
          <a:xfrm>
            <a:off x="4789363" y="4139357"/>
            <a:ext cx="3711922"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B4A4A"/>
                </a:solidFill>
                <a:latin typeface="Geist" pitchFamily="34" charset="0"/>
                <a:ea typeface="Geist" pitchFamily="34" charset="-122"/>
                <a:cs typeface="Geist" pitchFamily="34" charset="-120"/>
              </a:rPr>
              <a:t>Highlight top-rated and best-selling products in marketing campaigns.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2026-05-28T14:17:05Z</dcterms:created>
  <dcterms:modified xsi:type="dcterms:W3CDTF">2026-05-28T14:17:05Z</dcterms:modified>
</cp:coreProperties>
</file>